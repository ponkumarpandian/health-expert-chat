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6E2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88152" cy="2011680"/>
          </a:xfrm>
          <a:prstGeom prst="rect">
            <a:avLst/>
          </a:prstGeom>
          <a:solidFill>
            <a:srgbClr val="007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Microsoft Fabric + Azure AI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Data Analytics Pipeline — Architecture &amp;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26464"/>
            <a:ext cx="114574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0C8DC"/>
                </a:solidFill>
              </a:rPr>
              <a:t>End-to-end flow: Source Systems → Fabric Lakehouse → Analytics → Power BI → Dynamics 365 → Write-back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2194560"/>
            <a:ext cx="1901952" cy="1078992"/>
          </a:xfrm>
          <a:prstGeom prst="roundRect">
            <a:avLst/>
          </a:prstGeom>
          <a:solidFill>
            <a:srgbClr val="007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2231136"/>
            <a:ext cx="1755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01
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2596896"/>
            <a:ext cx="17556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8ECFF"/>
                </a:solidFill>
              </a:rPr>
              <a:t>Fabric Data Factory
Pipelines + Dataflows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2194560"/>
            <a:ext cx="1901952" cy="1078992"/>
          </a:xfrm>
          <a:prstGeom prst="roundRect">
            <a:avLst/>
          </a:prstGeom>
          <a:solidFill>
            <a:srgbClr val="6E2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13432" y="2231136"/>
            <a:ext cx="1755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02
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2596896"/>
            <a:ext cx="17556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8ECFF"/>
                </a:solidFill>
              </a:rPr>
              <a:t>OneLake Lakehouse
Bronze / Silver / Gold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2194560"/>
            <a:ext cx="1901952" cy="1078992"/>
          </a:xfrm>
          <a:prstGeom prst="roundRect">
            <a:avLst/>
          </a:prstGeom>
          <a:solidFill>
            <a:srgbClr val="00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231136"/>
            <a:ext cx="1755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03
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596896"/>
            <a:ext cx="17556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8ECFF"/>
                </a:solidFill>
              </a:rPr>
              <a:t>Fabric Notebooks
+ Azure ML (MLflow)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94560"/>
            <a:ext cx="1901952" cy="1078992"/>
          </a:xfrm>
          <a:prstGeom prst="roundRect">
            <a:avLst/>
          </a:prstGeom>
          <a:solidFill>
            <a:srgbClr val="7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2231136"/>
            <a:ext cx="1755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04
Orchestrate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596896"/>
            <a:ext cx="17556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8ECFF"/>
                </a:solidFill>
              </a:rPr>
              <a:t>Data Activator
Reflex Rules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2194560"/>
            <a:ext cx="1901952" cy="1078992"/>
          </a:xfrm>
          <a:prstGeom prst="roundRect">
            <a:avLst/>
          </a:prstGeom>
          <a:solidFill>
            <a:srgbClr val="00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2231136"/>
            <a:ext cx="1755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05
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596896"/>
            <a:ext cx="17556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8ECFF"/>
                </a:solidFill>
              </a:rPr>
              <a:t>Power BI Direct Lake
Real-time Reports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77272" y="2194560"/>
            <a:ext cx="1901952" cy="1078992"/>
          </a:xfrm>
          <a:prstGeom prst="roundRect">
            <a:avLst/>
          </a:prstGeom>
          <a:solidFill>
            <a:srgbClr val="8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50424" y="2231136"/>
            <a:ext cx="1755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06
Write-back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50424" y="2596896"/>
            <a:ext cx="17556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8ECFF"/>
                </a:solidFill>
              </a:rPr>
              <a:t>Eventstream +
Azure Logic Apps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456432"/>
            <a:ext cx="2487168" cy="475488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B8C4E0"/>
                </a:solidFill>
              </a:rPr>
              <a:t>ERP System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90672" y="3456432"/>
            <a:ext cx="2487168" cy="475488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B8C4E0"/>
                </a:solidFill>
              </a:rPr>
              <a:t>Flat Files
(CSV/Excel)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24144" y="3456432"/>
            <a:ext cx="2487168" cy="475488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B8C4E0"/>
                </a:solidFill>
              </a:rPr>
              <a:t>REST APIs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57616" y="3456432"/>
            <a:ext cx="2487168" cy="475488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B8C4E0"/>
                </a:solidFill>
              </a:rPr>
              <a:t>Dynamics 365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700784" y="2615184"/>
            <a:ext cx="2377440" cy="841248"/>
          </a:xfrm>
          <a:prstGeom prst="line">
            <a:avLst/>
          </a:prstGeom>
          <a:ln w="127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334256" y="2615184"/>
            <a:ext cx="182880" cy="841248"/>
          </a:xfrm>
          <a:prstGeom prst="line">
            <a:avLst/>
          </a:prstGeom>
          <a:ln w="127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6345936" y="2615184"/>
            <a:ext cx="621792" cy="841248"/>
          </a:xfrm>
          <a:prstGeom prst="line">
            <a:avLst/>
          </a:prstGeom>
          <a:ln w="127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7315200" y="2615184"/>
            <a:ext cx="2286000" cy="841248"/>
          </a:xfrm>
          <a:prstGeom prst="line">
            <a:avLst/>
          </a:prstGeom>
          <a:ln w="127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0" y="4041648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A8"/>
                </a:solidFill>
              </a:rPr>
              <a:t>▼  Solution covers 6 end-to-end flows detailed on the following slides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" y="4370832"/>
            <a:ext cx="1234440" cy="310896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OneLake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91056" y="4370832"/>
            <a:ext cx="1234440" cy="310896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Fabric Data Factory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26080" y="4370832"/>
            <a:ext cx="1234440" cy="310896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Fabric Notebooks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61104" y="4370832"/>
            <a:ext cx="1234440" cy="310896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Azure ML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96128" y="4370832"/>
            <a:ext cx="1234440" cy="310896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Power BI Direct Lake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31152" y="4370832"/>
            <a:ext cx="1234440" cy="310896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Data Activator (Reflex)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66175" y="4370832"/>
            <a:ext cx="1234440" cy="310896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Fabric Eventstream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4370832"/>
            <a:ext cx="1234440" cy="310896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Azure Logic Apps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36224" y="4370832"/>
            <a:ext cx="1234440" cy="310896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Fabric SQL Endpoint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0" y="6583680"/>
            <a:ext cx="12188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A8"/>
                </a:solidFill>
              </a:rPr>
              <a:t>February 2025  |  Microsoft Fabric Re-Architecture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7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1969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Flow 1: End-to-End Data Pipeline — Source → Ingest → Store → Process → Serve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658368" cy="1005840"/>
          </a:xfrm>
          <a:prstGeom prst="rect">
            <a:avLst/>
          </a:prstGeom>
          <a:solidFill>
            <a:srgbClr val="181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" y="886968"/>
            <a:ext cx="6217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548640"/>
            <a:ext cx="11530584" cy="1005840"/>
          </a:xfrm>
          <a:prstGeom prst="rect">
            <a:avLst/>
          </a:prstGeom>
          <a:solidFill>
            <a:srgbClr val="2A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54480"/>
            <a:ext cx="658368" cy="1097280"/>
          </a:xfrm>
          <a:prstGeom prst="rect">
            <a:avLst/>
          </a:prstGeom>
          <a:solidFill>
            <a:srgbClr val="003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" y="1938527"/>
            <a:ext cx="6217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INGEST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554480"/>
            <a:ext cx="11530584" cy="1097280"/>
          </a:xfrm>
          <a:prstGeom prst="rect">
            <a:avLst/>
          </a:prstGeom>
          <a:solidFill>
            <a:srgbClr val="12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651760"/>
            <a:ext cx="658368" cy="1097280"/>
          </a:xfrm>
          <a:prstGeom prst="rect">
            <a:avLst/>
          </a:prstGeom>
          <a:solidFill>
            <a:srgbClr val="360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" y="3035808"/>
            <a:ext cx="6217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STORE
(OneLake)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651760"/>
            <a:ext cx="11530584" cy="1097280"/>
          </a:xfrm>
          <a:prstGeom prst="rect">
            <a:avLst/>
          </a:prstGeom>
          <a:solidFill>
            <a:srgbClr val="481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749039"/>
            <a:ext cx="658368" cy="1188720"/>
          </a:xfrm>
          <a:prstGeom prst="rect">
            <a:avLst/>
          </a:prstGeom>
          <a:solidFill>
            <a:srgbClr val="00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" y="4178808"/>
            <a:ext cx="6217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749039"/>
            <a:ext cx="11530584" cy="1188720"/>
          </a:xfrm>
          <a:prstGeom prst="rect">
            <a:avLst/>
          </a:prstGeom>
          <a:solidFill>
            <a:srgbClr val="12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937760"/>
            <a:ext cx="658368" cy="914400"/>
          </a:xfrm>
          <a:prstGeom prst="rect">
            <a:avLst/>
          </a:prstGeom>
          <a:solidFill>
            <a:srgbClr val="004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" y="5230368"/>
            <a:ext cx="6217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SERVE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937760"/>
            <a:ext cx="11530584" cy="914400"/>
          </a:xfrm>
          <a:prstGeom prst="rect">
            <a:avLst/>
          </a:prstGeom>
          <a:solidFill>
            <a:srgbClr val="125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852160"/>
            <a:ext cx="658368" cy="914400"/>
          </a:xfrm>
          <a:prstGeom prst="rect">
            <a:avLst/>
          </a:prstGeom>
          <a:solidFill>
            <a:srgbClr val="4E2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" y="6144768"/>
            <a:ext cx="6217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WRITEBACK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852160"/>
            <a:ext cx="11530584" cy="914400"/>
          </a:xfrm>
          <a:prstGeom prst="rect">
            <a:avLst/>
          </a:prstGeom>
          <a:solidFill>
            <a:srgbClr val="603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640080"/>
            <a:ext cx="1280160" cy="731520"/>
          </a:xfrm>
          <a:prstGeom prst="roundRect">
            <a:avLst/>
          </a:prstGeom>
          <a:solidFill>
            <a:srgbClr val="2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B8C4E0"/>
                </a:solidFill>
              </a:rPr>
              <a:t>Flat Files
(CSV, Excel)
SFTP / Blob</a:t>
            </a:r>
          </a:p>
        </p:txBody>
      </p:sp>
      <p:sp>
        <p:nvSpPr>
          <p:cNvPr id="23" name="Oval 22"/>
          <p:cNvSpPr/>
          <p:nvPr/>
        </p:nvSpPr>
        <p:spPr>
          <a:xfrm>
            <a:off x="749808" y="640080"/>
            <a:ext cx="347472" cy="347472"/>
          </a:xfrm>
          <a:prstGeom prst="ellipse">
            <a:avLst/>
          </a:prstGeom>
          <a:solidFill>
            <a:srgbClr val="007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1627632"/>
            <a:ext cx="1280160" cy="877824"/>
          </a:xfrm>
          <a:prstGeom prst="round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90D8FF"/>
                </a:solidFill>
              </a:rPr>
              <a:t>Fabric Data Factory
Copy Activity
Scheduled / File-event
trigger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1627632"/>
            <a:ext cx="347472" cy="347472"/>
          </a:xfrm>
          <a:prstGeom prst="ellipse">
            <a:avLst/>
          </a:prstGeom>
          <a:solidFill>
            <a:srgbClr val="007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89888" y="1371600"/>
            <a:ext cx="0" cy="256032"/>
          </a:xfrm>
          <a:prstGeom prst="line">
            <a:avLst/>
          </a:prstGeom>
          <a:ln w="19050">
            <a:solidFill>
              <a:srgbClr val="90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9808" y="2724912"/>
            <a:ext cx="1280160" cy="877824"/>
          </a:xfrm>
          <a:prstGeom prst="roundRect">
            <a:avLst/>
          </a:prstGeom>
          <a:solidFill>
            <a:srgbClr val="44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D0A8FF"/>
                </a:solidFill>
              </a:rPr>
              <a:t>Bronze Layer
raw_client_data
(Delta table)
as-is raw</a:t>
            </a:r>
          </a:p>
        </p:txBody>
      </p:sp>
      <p:sp>
        <p:nvSpPr>
          <p:cNvPr id="28" name="Oval 27"/>
          <p:cNvSpPr/>
          <p:nvPr/>
        </p:nvSpPr>
        <p:spPr>
          <a:xfrm>
            <a:off x="749808" y="2724912"/>
            <a:ext cx="347472" cy="347472"/>
          </a:xfrm>
          <a:prstGeom prst="ellipse">
            <a:avLst/>
          </a:prstGeom>
          <a:solidFill>
            <a:srgbClr val="6E2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389888" y="2505456"/>
            <a:ext cx="0" cy="219456"/>
          </a:xfrm>
          <a:prstGeom prst="line">
            <a:avLst/>
          </a:prstGeom>
          <a:ln w="19050">
            <a:solidFill>
              <a:srgbClr val="D0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304288" y="640080"/>
            <a:ext cx="1280160" cy="731520"/>
          </a:xfrm>
          <a:prstGeom prst="roundRect">
            <a:avLst/>
          </a:prstGeom>
          <a:solidFill>
            <a:srgbClr val="2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B8C4E0"/>
                </a:solidFill>
              </a:rPr>
              <a:t>REST APIs
(Client
Systems)</a:t>
            </a:r>
          </a:p>
        </p:txBody>
      </p:sp>
      <p:sp>
        <p:nvSpPr>
          <p:cNvPr id="31" name="Oval 30"/>
          <p:cNvSpPr/>
          <p:nvPr/>
        </p:nvSpPr>
        <p:spPr>
          <a:xfrm>
            <a:off x="2304288" y="640080"/>
            <a:ext cx="347472" cy="347472"/>
          </a:xfrm>
          <a:prstGeom prst="ellipse">
            <a:avLst/>
          </a:prstGeom>
          <a:solidFill>
            <a:srgbClr val="007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04288" y="1627632"/>
            <a:ext cx="1280160" cy="877824"/>
          </a:xfrm>
          <a:prstGeom prst="round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90D8FF"/>
                </a:solidFill>
              </a:rPr>
              <a:t>Fabric Data Factory
HTTP Connector
Incremental with
watermark</a:t>
            </a:r>
          </a:p>
        </p:txBody>
      </p:sp>
      <p:sp>
        <p:nvSpPr>
          <p:cNvPr id="33" name="Oval 32"/>
          <p:cNvSpPr/>
          <p:nvPr/>
        </p:nvSpPr>
        <p:spPr>
          <a:xfrm>
            <a:off x="2304288" y="1627632"/>
            <a:ext cx="347472" cy="347472"/>
          </a:xfrm>
          <a:prstGeom prst="ellipse">
            <a:avLst/>
          </a:prstGeom>
          <a:solidFill>
            <a:srgbClr val="007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944368" y="1371600"/>
            <a:ext cx="0" cy="256032"/>
          </a:xfrm>
          <a:prstGeom prst="line">
            <a:avLst/>
          </a:prstGeom>
          <a:ln w="19050">
            <a:solidFill>
              <a:srgbClr val="90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304288" y="2724912"/>
            <a:ext cx="1280160" cy="877824"/>
          </a:xfrm>
          <a:prstGeom prst="roundRect">
            <a:avLst/>
          </a:prstGeom>
          <a:solidFill>
            <a:srgbClr val="44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D0A8FF"/>
                </a:solidFill>
              </a:rPr>
              <a:t>Bronze Layer
raw_api_responses
(Delta table)
with watermark</a:t>
            </a:r>
          </a:p>
        </p:txBody>
      </p:sp>
      <p:sp>
        <p:nvSpPr>
          <p:cNvPr id="36" name="Oval 35"/>
          <p:cNvSpPr/>
          <p:nvPr/>
        </p:nvSpPr>
        <p:spPr>
          <a:xfrm>
            <a:off x="2304288" y="2724912"/>
            <a:ext cx="347472" cy="347472"/>
          </a:xfrm>
          <a:prstGeom prst="ellipse">
            <a:avLst/>
          </a:prstGeom>
          <a:solidFill>
            <a:srgbClr val="6E2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944368" y="2505456"/>
            <a:ext cx="0" cy="219456"/>
          </a:xfrm>
          <a:prstGeom prst="line">
            <a:avLst/>
          </a:prstGeom>
          <a:ln w="19050">
            <a:solidFill>
              <a:srgbClr val="D0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858768" y="640080"/>
            <a:ext cx="1280160" cy="731520"/>
          </a:xfrm>
          <a:prstGeom prst="roundRect">
            <a:avLst/>
          </a:prstGeom>
          <a:solidFill>
            <a:srgbClr val="2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B8C4E0"/>
                </a:solidFill>
              </a:rPr>
              <a:t>Dynamics 365
(OData Feed)</a:t>
            </a:r>
          </a:p>
        </p:txBody>
      </p:sp>
      <p:sp>
        <p:nvSpPr>
          <p:cNvPr id="39" name="Oval 38"/>
          <p:cNvSpPr/>
          <p:nvPr/>
        </p:nvSpPr>
        <p:spPr>
          <a:xfrm>
            <a:off x="3858768" y="640080"/>
            <a:ext cx="347472" cy="347472"/>
          </a:xfrm>
          <a:prstGeom prst="ellipse">
            <a:avLst/>
          </a:prstGeom>
          <a:solidFill>
            <a:srgbClr val="007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58768" y="1627632"/>
            <a:ext cx="1280160" cy="877824"/>
          </a:xfrm>
          <a:prstGeom prst="round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90D8FF"/>
                </a:solidFill>
              </a:rPr>
              <a:t>Fabric Data Factory
OData Connector
Delta load
(Dynamics 365)</a:t>
            </a:r>
          </a:p>
        </p:txBody>
      </p:sp>
      <p:sp>
        <p:nvSpPr>
          <p:cNvPr id="41" name="Oval 40"/>
          <p:cNvSpPr/>
          <p:nvPr/>
        </p:nvSpPr>
        <p:spPr>
          <a:xfrm>
            <a:off x="3858768" y="1627632"/>
            <a:ext cx="347472" cy="347472"/>
          </a:xfrm>
          <a:prstGeom prst="ellipse">
            <a:avLst/>
          </a:prstGeom>
          <a:solidFill>
            <a:srgbClr val="007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498848" y="1371600"/>
            <a:ext cx="0" cy="256032"/>
          </a:xfrm>
          <a:prstGeom prst="line">
            <a:avLst/>
          </a:prstGeom>
          <a:ln w="19050">
            <a:solidFill>
              <a:srgbClr val="90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858768" y="2724912"/>
            <a:ext cx="1280160" cy="877824"/>
          </a:xfrm>
          <a:prstGeom prst="roundRect">
            <a:avLst/>
          </a:prstGeom>
          <a:solidFill>
            <a:srgbClr val="44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D0A8FF"/>
                </a:solidFill>
              </a:rPr>
              <a:t>Bronze Layer
raw_dynamics365
(Delta table)
full-snapshot</a:t>
            </a:r>
          </a:p>
        </p:txBody>
      </p:sp>
      <p:sp>
        <p:nvSpPr>
          <p:cNvPr id="44" name="Oval 43"/>
          <p:cNvSpPr/>
          <p:nvPr/>
        </p:nvSpPr>
        <p:spPr>
          <a:xfrm>
            <a:off x="3858768" y="2724912"/>
            <a:ext cx="347472" cy="347472"/>
          </a:xfrm>
          <a:prstGeom prst="ellipse">
            <a:avLst/>
          </a:prstGeom>
          <a:solidFill>
            <a:srgbClr val="6E2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498848" y="2505456"/>
            <a:ext cx="0" cy="219456"/>
          </a:xfrm>
          <a:prstGeom prst="line">
            <a:avLst/>
          </a:prstGeom>
          <a:ln w="19050">
            <a:solidFill>
              <a:srgbClr val="D0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389888" y="3602736"/>
            <a:ext cx="4507992" cy="219455"/>
          </a:xfrm>
          <a:prstGeom prst="line">
            <a:avLst/>
          </a:prstGeom>
          <a:ln w="15240">
            <a:solidFill>
              <a:srgbClr val="D0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44368" y="3602736"/>
            <a:ext cx="2953512" cy="219455"/>
          </a:xfrm>
          <a:prstGeom prst="line">
            <a:avLst/>
          </a:prstGeom>
          <a:ln w="15240">
            <a:solidFill>
              <a:srgbClr val="D0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498848" y="3602736"/>
            <a:ext cx="1399032" cy="219455"/>
          </a:xfrm>
          <a:prstGeom prst="line">
            <a:avLst/>
          </a:prstGeom>
          <a:ln w="15240">
            <a:solidFill>
              <a:srgbClr val="D0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321808" y="3822191"/>
            <a:ext cx="1572768" cy="969264"/>
          </a:xfrm>
          <a:prstGeom prst="roundRect">
            <a:avLst/>
          </a:prstGeom>
          <a:solidFill>
            <a:srgbClr val="00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A8ECEC"/>
                </a:solidFill>
              </a:rPr>
              <a:t>Fabric Notebook
bronze_to_silver
(PySpark cleanse
+ conform)</a:t>
            </a:r>
          </a:p>
        </p:txBody>
      </p:sp>
      <p:sp>
        <p:nvSpPr>
          <p:cNvPr id="50" name="Oval 49"/>
          <p:cNvSpPr/>
          <p:nvPr/>
        </p:nvSpPr>
        <p:spPr>
          <a:xfrm>
            <a:off x="5321808" y="3822191"/>
            <a:ext cx="347472" cy="347472"/>
          </a:xfrm>
          <a:prstGeom prst="ellipse">
            <a:avLst/>
          </a:prstGeom>
          <a:solidFill>
            <a:srgbClr val="00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21808" y="2724912"/>
            <a:ext cx="1572768" cy="914400"/>
          </a:xfrm>
          <a:prstGeom prst="roundRect">
            <a:avLst/>
          </a:prstGeom>
          <a:solidFill>
            <a:srgbClr val="44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D0A8FF"/>
                </a:solidFill>
              </a:rPr>
              <a:t>Silver Layer
client_transactions
client_master
(cleansed, typed)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108192" y="3602736"/>
            <a:ext cx="0" cy="36576"/>
          </a:xfrm>
          <a:prstGeom prst="line">
            <a:avLst/>
          </a:prstGeom>
          <a:ln w="19050">
            <a:solidFill>
              <a:srgbClr val="D0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108192" y="2724912"/>
            <a:ext cx="0" cy="1060703"/>
          </a:xfrm>
          <a:prstGeom prst="line">
            <a:avLst/>
          </a:prstGeom>
          <a:ln w="19050">
            <a:solidFill>
              <a:srgbClr val="A8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7150608" y="3822191"/>
            <a:ext cx="1572768" cy="969264"/>
          </a:xfrm>
          <a:prstGeom prst="roundRect">
            <a:avLst/>
          </a:prstGeom>
          <a:solidFill>
            <a:srgbClr val="00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A8ECEC"/>
                </a:solidFill>
              </a:rPr>
              <a:t>Fabric Notebook
silver_to_gold
(PySpark KPI
aggregations)</a:t>
            </a:r>
          </a:p>
        </p:txBody>
      </p:sp>
      <p:sp>
        <p:nvSpPr>
          <p:cNvPr id="55" name="Oval 54"/>
          <p:cNvSpPr/>
          <p:nvPr/>
        </p:nvSpPr>
        <p:spPr>
          <a:xfrm>
            <a:off x="7150608" y="3822191"/>
            <a:ext cx="347472" cy="347472"/>
          </a:xfrm>
          <a:prstGeom prst="ellipse">
            <a:avLst/>
          </a:prstGeom>
          <a:solidFill>
            <a:srgbClr val="00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894576" y="4242816"/>
            <a:ext cx="256032" cy="0"/>
          </a:xfrm>
          <a:prstGeom prst="line">
            <a:avLst/>
          </a:prstGeom>
          <a:ln w="19050">
            <a:solidFill>
              <a:srgbClr val="A8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7150608" y="2724912"/>
            <a:ext cx="1572768" cy="914400"/>
          </a:xfrm>
          <a:prstGeom prst="roundRect">
            <a:avLst/>
          </a:prstGeom>
          <a:solidFill>
            <a:srgbClr val="6C2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Gold Layer
kpi_summary
ml_scores
alert_thresholds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7936992" y="3639312"/>
            <a:ext cx="0" cy="182879"/>
          </a:xfrm>
          <a:prstGeom prst="line">
            <a:avLst/>
          </a:prstGeom>
          <a:ln w="19050">
            <a:solidFill>
              <a:srgbClr val="A8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8979408" y="3822191"/>
            <a:ext cx="1426464" cy="969264"/>
          </a:xfrm>
          <a:prstGeom prst="round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90D8FF"/>
                </a:solidFill>
              </a:rPr>
              <a:t>Azure ML
Batch Scoring
(MLflow model
applied to Gold)</a:t>
            </a:r>
          </a:p>
        </p:txBody>
      </p:sp>
      <p:sp>
        <p:nvSpPr>
          <p:cNvPr id="60" name="Oval 59"/>
          <p:cNvSpPr/>
          <p:nvPr/>
        </p:nvSpPr>
        <p:spPr>
          <a:xfrm>
            <a:off x="8979408" y="3822191"/>
            <a:ext cx="347472" cy="347472"/>
          </a:xfrm>
          <a:prstGeom prst="ellipse">
            <a:avLst/>
          </a:prstGeom>
          <a:solidFill>
            <a:srgbClr val="007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723376" y="4242816"/>
            <a:ext cx="256032" cy="0"/>
          </a:xfrm>
          <a:prstGeom prst="line">
            <a:avLst/>
          </a:prstGeom>
          <a:ln w="19050">
            <a:solidFill>
              <a:srgbClr val="A8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692640" y="3639312"/>
            <a:ext cx="0" cy="182879"/>
          </a:xfrm>
          <a:prstGeom prst="line">
            <a:avLst/>
          </a:prstGeom>
          <a:ln w="19050">
            <a:solidFill>
              <a:srgbClr val="90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8979408" y="2724912"/>
            <a:ext cx="1426464" cy="914400"/>
          </a:xfrm>
          <a:prstGeom prst="roundRect">
            <a:avLst/>
          </a:prstGeom>
          <a:solidFill>
            <a:srgbClr val="6C2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D0A8FF"/>
                </a:solidFill>
              </a:rPr>
              <a:t>Gold: ml_scores
scored by registered
MLflow model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570464" y="2724912"/>
            <a:ext cx="1444752" cy="914400"/>
          </a:xfrm>
          <a:prstGeom prst="roundRect">
            <a:avLst/>
          </a:prstGeom>
          <a:solidFill>
            <a:srgbClr val="00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A8FFC0"/>
                </a:solidFill>
              </a:rPr>
              <a:t>Power BI
Direct Lake
Real-time KPIs
(no refresh)</a:t>
            </a:r>
          </a:p>
        </p:txBody>
      </p:sp>
      <p:sp>
        <p:nvSpPr>
          <p:cNvPr id="65" name="Oval 64"/>
          <p:cNvSpPr/>
          <p:nvPr/>
        </p:nvSpPr>
        <p:spPr>
          <a:xfrm>
            <a:off x="10570464" y="2724912"/>
            <a:ext cx="347472" cy="347472"/>
          </a:xfrm>
          <a:prstGeom prst="ellipse">
            <a:avLst/>
          </a:prstGeom>
          <a:solidFill>
            <a:srgbClr val="00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7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0405872" y="3182112"/>
            <a:ext cx="164592" cy="0"/>
          </a:xfrm>
          <a:prstGeom prst="line">
            <a:avLst/>
          </a:prstGeom>
          <a:ln w="19050">
            <a:solidFill>
              <a:srgbClr val="90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8979408" y="5047488"/>
            <a:ext cx="1426464" cy="749808"/>
          </a:xfrm>
          <a:prstGeom prst="roundRect">
            <a:avLst/>
          </a:prstGeom>
          <a:solidFill>
            <a:srgbClr val="7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D488"/>
                </a:solidFill>
              </a:rPr>
              <a:t>Data Activator
Reflex Rules
(threshold alerts)</a:t>
            </a:r>
          </a:p>
        </p:txBody>
      </p:sp>
      <p:sp>
        <p:nvSpPr>
          <p:cNvPr id="68" name="Oval 67"/>
          <p:cNvSpPr/>
          <p:nvPr/>
        </p:nvSpPr>
        <p:spPr>
          <a:xfrm>
            <a:off x="8979408" y="5047488"/>
            <a:ext cx="347472" cy="347472"/>
          </a:xfrm>
          <a:prstGeom prst="ellipse">
            <a:avLst/>
          </a:prstGeom>
          <a:solidFill>
            <a:srgbClr val="7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8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692640" y="3639312"/>
            <a:ext cx="0" cy="1408176"/>
          </a:xfrm>
          <a:prstGeom prst="line">
            <a:avLst/>
          </a:prstGeom>
          <a:ln w="15240">
            <a:solidFill>
              <a:srgbClr val="FFD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10570464" y="5047488"/>
            <a:ext cx="1444752" cy="749808"/>
          </a:xfrm>
          <a:prstGeom prst="roundRect">
            <a:avLst/>
          </a:prstGeom>
          <a:solidFill>
            <a:srgbClr val="8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B4B4"/>
                </a:solidFill>
              </a:rPr>
              <a:t>Logic App /
Teams Alert +
D365 Write-back</a:t>
            </a:r>
          </a:p>
        </p:txBody>
      </p:sp>
      <p:sp>
        <p:nvSpPr>
          <p:cNvPr id="71" name="Oval 70"/>
          <p:cNvSpPr/>
          <p:nvPr/>
        </p:nvSpPr>
        <p:spPr>
          <a:xfrm>
            <a:off x="10570464" y="5047488"/>
            <a:ext cx="347472" cy="347472"/>
          </a:xfrm>
          <a:prstGeom prst="ellipse">
            <a:avLst/>
          </a:prstGeom>
          <a:solidFill>
            <a:srgbClr val="8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9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0405872" y="5413248"/>
            <a:ext cx="164592" cy="0"/>
          </a:xfrm>
          <a:prstGeom prst="line">
            <a:avLst/>
          </a:prstGeom>
          <a:ln w="19050">
            <a:solidFill>
              <a:srgbClr val="FFD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749808" y="59893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888A8"/>
                </a:solidFill>
              </a:rPr>
              <a:t>Flow: [1] Source → [2] Data Factory ingest → [3] Bronze raw → [4] Cleanse to Silver → [5] Aggregate to Gold → [6] Azure ML scoring → [7] Power BI → [8] Data Activator alert → [9] Write-back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7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1969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Flow 2: Ingestion Pipeline — Fabric Data Factory (5 Pipelines)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585216"/>
            <a:ext cx="2231136" cy="329184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PIPELINE 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585216"/>
            <a:ext cx="2578608" cy="329184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585216"/>
            <a:ext cx="2761488" cy="329184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585216"/>
            <a:ext cx="3840480" cy="329184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DESTINATION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" y="969264"/>
            <a:ext cx="2231136" cy="868680"/>
          </a:xfrm>
          <a:prstGeom prst="roundRect">
            <a:avLst/>
          </a:prstGeom>
          <a:solidFill>
            <a:srgbClr val="007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Raw_File_Ingest</a:t>
            </a:r>
          </a:p>
        </p:txBody>
      </p:sp>
      <p:sp>
        <p:nvSpPr>
          <p:cNvPr id="9" name="Oval 8"/>
          <p:cNvSpPr/>
          <p:nvPr/>
        </p:nvSpPr>
        <p:spPr>
          <a:xfrm>
            <a:off x="137160" y="969264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76D4"/>
                </a:solidFill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969264"/>
            <a:ext cx="2578608" cy="868680"/>
          </a:xfrm>
          <a:prstGeom prst="roundRect">
            <a:avLst/>
          </a:prstGeom>
          <a:solidFill>
            <a:srgbClr val="10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90D8FF"/>
                </a:solidFill>
              </a:rPr>
              <a:t>Source: SFTP / Azure Blob
(CSV, Excel, Parquet)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969264"/>
            <a:ext cx="2761488" cy="868680"/>
          </a:xfrm>
          <a:prstGeom prst="roundRect">
            <a:avLst/>
          </a:prstGeom>
          <a:solidFill>
            <a:srgbClr val="1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A8FFC0"/>
                </a:solidFill>
              </a:rPr>
              <a:t>Trigger: File-arrival event
or scheduled (hourly)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969264"/>
            <a:ext cx="3840480" cy="868680"/>
          </a:xfrm>
          <a:prstGeom prst="roundRect">
            <a:avLst/>
          </a:prstGeom>
          <a:solidFill>
            <a:srgbClr val="30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D0A8FF"/>
                </a:solidFill>
              </a:rPr>
              <a:t>Dest: bronze.raw_client_data
(Delta, append)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47488" y="1399032"/>
            <a:ext cx="164592" cy="0"/>
          </a:xfrm>
          <a:prstGeom prst="line">
            <a:avLst/>
          </a:prstGeom>
          <a:ln w="127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73568" y="1399032"/>
            <a:ext cx="164592" cy="0"/>
          </a:xfrm>
          <a:prstGeom prst="line">
            <a:avLst/>
          </a:prstGeom>
          <a:ln w="127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37160" y="1938528"/>
            <a:ext cx="2231136" cy="868680"/>
          </a:xfrm>
          <a:prstGeom prst="round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Raw_API_Ingest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" y="193852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5AA0"/>
                </a:solidFill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1938528"/>
            <a:ext cx="2578608" cy="868680"/>
          </a:xfrm>
          <a:prstGeom prst="roundRect">
            <a:avLst/>
          </a:prstGeom>
          <a:solidFill>
            <a:srgbClr val="10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90D8FF"/>
                </a:solidFill>
              </a:rPr>
              <a:t>Source: REST / HTTP APIs
(client source system)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1938528"/>
            <a:ext cx="2761488" cy="868680"/>
          </a:xfrm>
          <a:prstGeom prst="roundRect">
            <a:avLst/>
          </a:prstGeom>
          <a:solidFill>
            <a:srgbClr val="1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A8FFC0"/>
                </a:solidFill>
              </a:rPr>
              <a:t>Trigger: Hourly schedule
watermark column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938528"/>
            <a:ext cx="3840480" cy="868680"/>
          </a:xfrm>
          <a:prstGeom prst="roundRect">
            <a:avLst/>
          </a:prstGeom>
          <a:solidFill>
            <a:srgbClr val="30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D0A8FF"/>
                </a:solidFill>
              </a:rPr>
              <a:t>Dest: bronze.raw_api_responses
(Delta, incremental)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47488" y="2368296"/>
            <a:ext cx="164592" cy="0"/>
          </a:xfrm>
          <a:prstGeom prst="line">
            <a:avLst/>
          </a:prstGeom>
          <a:ln w="127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973568" y="2368296"/>
            <a:ext cx="164592" cy="0"/>
          </a:xfrm>
          <a:prstGeom prst="line">
            <a:avLst/>
          </a:prstGeom>
          <a:ln w="127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37160" y="2907792"/>
            <a:ext cx="2231136" cy="868680"/>
          </a:xfrm>
          <a:prstGeom prst="roundRect">
            <a:avLst/>
          </a:prstGeom>
          <a:solidFill>
            <a:srgbClr val="00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Dynamics365_Extract</a:t>
            </a:r>
          </a:p>
        </p:txBody>
      </p:sp>
      <p:sp>
        <p:nvSpPr>
          <p:cNvPr id="23" name="Oval 22"/>
          <p:cNvSpPr/>
          <p:nvPr/>
        </p:nvSpPr>
        <p:spPr>
          <a:xfrm>
            <a:off x="137160" y="2907792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5090"/>
                </a:solidFill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2907792"/>
            <a:ext cx="2578608" cy="868680"/>
          </a:xfrm>
          <a:prstGeom prst="roundRect">
            <a:avLst/>
          </a:prstGeom>
          <a:solidFill>
            <a:srgbClr val="10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90D8FF"/>
                </a:solidFill>
              </a:rPr>
              <a:t>Source: D365 OData
(/api/data/v9 endpoint)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0" y="2907792"/>
            <a:ext cx="2761488" cy="868680"/>
          </a:xfrm>
          <a:prstGeom prst="roundRect">
            <a:avLst/>
          </a:prstGeom>
          <a:solidFill>
            <a:srgbClr val="1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A8FFC0"/>
                </a:solidFill>
              </a:rPr>
              <a:t>Trigger: Daily delta
changedDateTime filter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2907792"/>
            <a:ext cx="3840480" cy="868680"/>
          </a:xfrm>
          <a:prstGeom prst="roundRect">
            <a:avLst/>
          </a:prstGeom>
          <a:solidFill>
            <a:srgbClr val="30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D0A8FF"/>
                </a:solidFill>
              </a:rPr>
              <a:t>Dest: bronze.raw_dynamics365
(Delta, full snapshot)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47488" y="3337560"/>
            <a:ext cx="164592" cy="0"/>
          </a:xfrm>
          <a:prstGeom prst="line">
            <a:avLst/>
          </a:prstGeom>
          <a:ln w="127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73568" y="3337560"/>
            <a:ext cx="164592" cy="0"/>
          </a:xfrm>
          <a:prstGeom prst="line">
            <a:avLst/>
          </a:prstGeom>
          <a:ln w="127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37160" y="3877056"/>
            <a:ext cx="2231136" cy="868680"/>
          </a:xfrm>
          <a:prstGeom prst="roundRect">
            <a:avLst/>
          </a:prstGeom>
          <a:solidFill>
            <a:srgbClr val="00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Bronze_to_Silver</a:t>
            </a:r>
          </a:p>
        </p:txBody>
      </p:sp>
      <p:sp>
        <p:nvSpPr>
          <p:cNvPr id="30" name="Oval 29"/>
          <p:cNvSpPr/>
          <p:nvPr/>
        </p:nvSpPr>
        <p:spPr>
          <a:xfrm>
            <a:off x="137160" y="3877056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6262"/>
                </a:solidFill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0" y="3877056"/>
            <a:ext cx="2578608" cy="868680"/>
          </a:xfrm>
          <a:prstGeom prst="roundRect">
            <a:avLst/>
          </a:prstGeom>
          <a:solidFill>
            <a:srgbClr val="10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90D8FF"/>
                </a:solidFill>
              </a:rPr>
              <a:t>Source: All bronze tables
(Fabric Lakehouse)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0" y="3877056"/>
            <a:ext cx="2761488" cy="868680"/>
          </a:xfrm>
          <a:prstGeom prst="roundRect">
            <a:avLst/>
          </a:prstGeom>
          <a:solidFill>
            <a:srgbClr val="1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A8FFC0"/>
                </a:solidFill>
              </a:rPr>
              <a:t>Trigger: After ingest
pipeline completes (event)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877056"/>
            <a:ext cx="3840480" cy="868680"/>
          </a:xfrm>
          <a:prstGeom prst="roundRect">
            <a:avLst/>
          </a:prstGeom>
          <a:solidFill>
            <a:srgbClr val="30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D0A8FF"/>
                </a:solidFill>
              </a:rPr>
              <a:t>Dest: silver.*
(cleansed, typed, no dups)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47488" y="4306824"/>
            <a:ext cx="164592" cy="0"/>
          </a:xfrm>
          <a:prstGeom prst="line">
            <a:avLst/>
          </a:prstGeom>
          <a:ln w="127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973568" y="4306824"/>
            <a:ext cx="164592" cy="0"/>
          </a:xfrm>
          <a:prstGeom prst="line">
            <a:avLst/>
          </a:prstGeom>
          <a:ln w="127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37160" y="4846320"/>
            <a:ext cx="2231136" cy="868680"/>
          </a:xfrm>
          <a:prstGeom prst="roundRect">
            <a:avLst/>
          </a:prstGeom>
          <a:solidFill>
            <a:srgbClr val="6C2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Silver_to_Gold</a:t>
            </a:r>
          </a:p>
        </p:txBody>
      </p:sp>
      <p:sp>
        <p:nvSpPr>
          <p:cNvPr id="37" name="Oval 36"/>
          <p:cNvSpPr/>
          <p:nvPr/>
        </p:nvSpPr>
        <p:spPr>
          <a:xfrm>
            <a:off x="137160" y="4846320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C246C"/>
                </a:solidFill>
              </a:rP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68880" y="4846320"/>
            <a:ext cx="2578608" cy="868680"/>
          </a:xfrm>
          <a:prstGeom prst="roundRect">
            <a:avLst/>
          </a:prstGeom>
          <a:solidFill>
            <a:srgbClr val="10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90D8FF"/>
                </a:solidFill>
              </a:rPr>
              <a:t>Source: silver.*
(Fabric Lakehouse)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12080" y="4846320"/>
            <a:ext cx="2761488" cy="868680"/>
          </a:xfrm>
          <a:prstGeom prst="roundRect">
            <a:avLst/>
          </a:prstGeom>
          <a:solidFill>
            <a:srgbClr val="1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A8FFC0"/>
                </a:solidFill>
              </a:rPr>
              <a:t>Trigger: After notebook
run succeeds (event)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4846320"/>
            <a:ext cx="3840480" cy="868680"/>
          </a:xfrm>
          <a:prstGeom prst="roundRect">
            <a:avLst/>
          </a:prstGeom>
          <a:solidFill>
            <a:srgbClr val="30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D0A8FF"/>
                </a:solidFill>
              </a:rPr>
              <a:t>Dest: gold.kpi_summary
gold.alert_thresholds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47488" y="5276088"/>
            <a:ext cx="164592" cy="0"/>
          </a:xfrm>
          <a:prstGeom prst="line">
            <a:avLst/>
          </a:prstGeom>
          <a:ln w="127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973568" y="5276088"/>
            <a:ext cx="164592" cy="0"/>
          </a:xfrm>
          <a:prstGeom prst="line">
            <a:avLst/>
          </a:prstGeom>
          <a:ln w="127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252728" y="1837943"/>
            <a:ext cx="0" cy="100585"/>
          </a:xfrm>
          <a:prstGeom prst="line">
            <a:avLst/>
          </a:prstGeom>
          <a:ln w="19050">
            <a:solidFill>
              <a:srgbClr val="FCD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252728" y="2807208"/>
            <a:ext cx="0" cy="100584"/>
          </a:xfrm>
          <a:prstGeom prst="line">
            <a:avLst/>
          </a:prstGeom>
          <a:ln w="19050">
            <a:solidFill>
              <a:srgbClr val="FCD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52728" y="3776472"/>
            <a:ext cx="0" cy="100584"/>
          </a:xfrm>
          <a:prstGeom prst="line">
            <a:avLst/>
          </a:prstGeom>
          <a:ln w="19050">
            <a:solidFill>
              <a:srgbClr val="FCD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252728" y="4745736"/>
            <a:ext cx="0" cy="100584"/>
          </a:xfrm>
          <a:prstGeom prst="line">
            <a:avLst/>
          </a:prstGeom>
          <a:ln w="19050">
            <a:solidFill>
              <a:srgbClr val="FCD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37160" y="6035040"/>
            <a:ext cx="1188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8"/>
                </a:solidFill>
              </a:rPr>
              <a:t>Each pipeline is independently triggered. Pipelines 4 and 5 are event-chained — they fire after the upstream pipeline completes successfully.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1969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Flow 3: Analytics &amp; Orchestration — Notebooks → Azure ML → Data Activator → Teams/D365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566928"/>
            <a:ext cx="3913632" cy="384048"/>
          </a:xfrm>
          <a:prstGeom prst="roundRect">
            <a:avLst/>
          </a:prstGeom>
          <a:solidFill>
            <a:srgbClr val="00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A
Data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005840"/>
            <a:ext cx="3730752" cy="932688"/>
          </a:xfrm>
          <a:prstGeom prst="roundRect">
            <a:avLst/>
          </a:prstGeom>
          <a:solidFill>
            <a:srgbClr val="0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FFFFFF"/>
                </a:solidFill>
              </a:rPr>
              <a:t>1. Load silver.client_transactions
   spark.table('silver.client_transactions')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2029968"/>
            <a:ext cx="3730752" cy="932688"/>
          </a:xfrm>
          <a:prstGeom prst="roundRect">
            <a:avLst/>
          </a:prstGeom>
          <a:solidFill>
            <a:srgbClr val="0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FFFFFF"/>
                </a:solidFill>
              </a:rPr>
              <a:t>2. groupBy country / period / category
   .agg(sum, avg, count)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3054096"/>
            <a:ext cx="3730752" cy="932688"/>
          </a:xfrm>
          <a:prstGeom prst="roundRect">
            <a:avLst/>
          </a:prstGeom>
          <a:solidFill>
            <a:srgbClr val="0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FFFFFF"/>
                </a:solidFill>
              </a:rPr>
              <a:t>3. Write → gold.kpi_summary
   format('delta').mode('overwrite')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41064" y="2487168"/>
            <a:ext cx="402336" cy="0"/>
          </a:xfrm>
          <a:prstGeom prst="line">
            <a:avLst/>
          </a:prstGeom>
          <a:ln w="254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97096" y="566928"/>
            <a:ext cx="3913632" cy="384048"/>
          </a:xfrm>
          <a:prstGeom prst="round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B
ML Scoring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005840"/>
            <a:ext cx="3730752" cy="932688"/>
          </a:xfrm>
          <a:prstGeom prst="roundRect">
            <a:avLst/>
          </a:prstGeom>
          <a:solidFill>
            <a:srgbClr val="00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FFFFFF"/>
                </a:solidFill>
              </a:rPr>
              <a:t>4. Load gold.kpi_summary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2029968"/>
            <a:ext cx="3730752" cy="932688"/>
          </a:xfrm>
          <a:prstGeom prst="roundRect">
            <a:avLst/>
          </a:prstGeom>
          <a:solidFill>
            <a:srgbClr val="00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FFFFFF"/>
                </a:solidFill>
              </a:rPr>
              <a:t>5. Apply MLflow registered model
   mlflow.pyfunc.load_model(uri)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3054096"/>
            <a:ext cx="3730752" cy="932688"/>
          </a:xfrm>
          <a:prstGeom prst="roundRect">
            <a:avLst/>
          </a:prstGeom>
          <a:solidFill>
            <a:srgbClr val="00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FFFFFF"/>
                </a:solidFill>
              </a:rPr>
              <a:t>6. Write predictions → gold.ml_scores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01000" y="2487168"/>
            <a:ext cx="402336" cy="0"/>
          </a:xfrm>
          <a:prstGeom prst="line">
            <a:avLst/>
          </a:prstGeom>
          <a:ln w="254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57032" y="566928"/>
            <a:ext cx="3913632" cy="384048"/>
          </a:xfrm>
          <a:prstGeom prst="roundRect">
            <a:avLst/>
          </a:prstGeom>
          <a:solidFill>
            <a:srgbClr val="7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C
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8472" y="1005840"/>
            <a:ext cx="3730752" cy="932688"/>
          </a:xfrm>
          <a:prstGeom prst="roundRect">
            <a:avLst/>
          </a:prstGeom>
          <a:solidFill>
            <a:srgbClr val="28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FFFFFF"/>
                </a:solidFill>
              </a:rPr>
              <a:t>7. Data Activator watches gold.kpi_summary
   Rule: variance_pct &gt; 15%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8472" y="2029968"/>
            <a:ext cx="3730752" cy="932688"/>
          </a:xfrm>
          <a:prstGeom prst="roundRect">
            <a:avLst/>
          </a:prstGeom>
          <a:solidFill>
            <a:srgbClr val="28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FFFFFF"/>
                </a:solidFill>
              </a:rPr>
              <a:t>8. Trigger: Teams Adaptive Card alert
   + Email to ops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48472" y="3054096"/>
            <a:ext cx="3730752" cy="932688"/>
          </a:xfrm>
          <a:prstGeom prst="roundRect">
            <a:avLst/>
          </a:prstGeom>
          <a:solidFill>
            <a:srgbClr val="28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FFFFFF"/>
                </a:solidFill>
              </a:rPr>
              <a:t>9. Trigger: Logic App → D365 seeding
   or Eventstream → source write-back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4114800"/>
            <a:ext cx="11932920" cy="896112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" y="4133087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CD058"/>
                </a:solidFill>
              </a:rPr>
              <a:t>DATA ACTIVATOR RULES: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" y="4425696"/>
            <a:ext cx="2834640" cy="475488"/>
          </a:xfrm>
          <a:prstGeom prst="roundRect">
            <a:avLst/>
          </a:prstGeom>
          <a:solidFill>
            <a:srgbClr val="3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 b="0">
                <a:solidFill>
                  <a:srgbClr val="C0D0FF"/>
                </a:solidFill>
              </a:rPr>
              <a:t>kpi_threshold_breach
Watches: gold.kpi_summary WHERE variance_pct &gt; 15%
Action: Teams card + Email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82112" y="4425696"/>
            <a:ext cx="2834640" cy="475488"/>
          </a:xfrm>
          <a:prstGeom prst="roundRect">
            <a:avLst/>
          </a:prstGeom>
          <a:solidFill>
            <a:srgbClr val="3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 b="0">
                <a:solidFill>
                  <a:srgbClr val="C0D0FF"/>
                </a:solidFill>
              </a:rPr>
              <a:t>data_freshness_check
Watches: Pipeline last_run timestamp &gt; 2 hours ago
Action: Alert to engineering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4425696"/>
            <a:ext cx="2834640" cy="475488"/>
          </a:xfrm>
          <a:prstGeom prst="roundRect">
            <a:avLst/>
          </a:prstGeom>
          <a:solidFill>
            <a:srgbClr val="3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 b="0">
                <a:solidFill>
                  <a:srgbClr val="C0D0FF"/>
                </a:solidFill>
              </a:rPr>
              <a:t>dynamics_seed_trigger
Watches: gold.kpi_summary — new rows detected
Action: Logic App → D365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07424" y="4425696"/>
            <a:ext cx="2834640" cy="475488"/>
          </a:xfrm>
          <a:prstGeom prst="roundRect">
            <a:avLst/>
          </a:prstGeom>
          <a:solidFill>
            <a:srgbClr val="3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 b="0">
                <a:solidFill>
                  <a:srgbClr val="C0D0FF"/>
                </a:solidFill>
              </a:rPr>
              <a:t>daily_report_trigger
Watches: Schedule: 06:00 UTC
Action: Power BI refresh + summary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596128"/>
            <a:ext cx="2706624" cy="566928"/>
          </a:xfrm>
          <a:prstGeom prst="roundRect">
            <a:avLst/>
          </a:prstGeom>
          <a:solidFill>
            <a:srgbClr val="00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A8FFC0"/>
                </a:solidFill>
              </a:rPr>
              <a:t>Teams
Adaptive Card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627632" y="5394960"/>
            <a:ext cx="0" cy="201168"/>
          </a:xfrm>
          <a:prstGeom prst="line">
            <a:avLst/>
          </a:prstGeom>
          <a:ln w="127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236976" y="5596128"/>
            <a:ext cx="2706624" cy="566928"/>
          </a:xfrm>
          <a:prstGeom prst="roundRect">
            <a:avLst/>
          </a:prstGeom>
          <a:solidFill>
            <a:srgbClr val="00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A8FFC0"/>
                </a:solidFill>
              </a:rPr>
              <a:t>Email
Notification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90288" y="5394960"/>
            <a:ext cx="0" cy="201168"/>
          </a:xfrm>
          <a:prstGeom prst="line">
            <a:avLst/>
          </a:prstGeom>
          <a:ln w="127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199632" y="5596128"/>
            <a:ext cx="2706624" cy="566928"/>
          </a:xfrm>
          <a:prstGeom prst="roundRect">
            <a:avLst/>
          </a:prstGeom>
          <a:solidFill>
            <a:srgbClr val="7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D488"/>
                </a:solidFill>
              </a:rPr>
              <a:t>Logic App
→ D365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52944" y="5394960"/>
            <a:ext cx="0" cy="201168"/>
          </a:xfrm>
          <a:prstGeom prst="line">
            <a:avLst/>
          </a:prstGeom>
          <a:ln w="127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62288" y="5596128"/>
            <a:ext cx="2706624" cy="566928"/>
          </a:xfrm>
          <a:prstGeom prst="roundRect">
            <a:avLst/>
          </a:prstGeom>
          <a:solidFill>
            <a:srgbClr val="8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B4B4"/>
                </a:solidFill>
              </a:rPr>
              <a:t>Eventstream
→ Source API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515600" y="5394960"/>
            <a:ext cx="0" cy="201168"/>
          </a:xfrm>
          <a:prstGeom prst="line">
            <a:avLst/>
          </a:prstGeom>
          <a:ln w="1270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1969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Flow 4: Serve Layer — Power BI Direct Lake + Dynamics 365 Seeding + Source Write-back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56692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8FFC0"/>
                </a:solidFill>
              </a:rPr>
              <a:t>POWER BI — DIRECT LAKE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877824"/>
            <a:ext cx="3657600" cy="777240"/>
          </a:xfrm>
          <a:prstGeom prst="roundRect">
            <a:avLst/>
          </a:prstGeom>
          <a:solidFill>
            <a:srgbClr val="44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D0A8FF"/>
                </a:solidFill>
              </a:rPr>
              <a:t>Gold Layer
(OneLake Delta table)
gold.kpi_summary, gold.ml_scores</a:t>
            </a:r>
          </a:p>
        </p:txBody>
      </p:sp>
      <p:sp>
        <p:nvSpPr>
          <p:cNvPr id="6" name="Oval 5"/>
          <p:cNvSpPr/>
          <p:nvPr/>
        </p:nvSpPr>
        <p:spPr>
          <a:xfrm>
            <a:off x="137160" y="877824"/>
            <a:ext cx="347472" cy="347472"/>
          </a:xfrm>
          <a:prstGeom prst="ellipse">
            <a:avLst/>
          </a:prstGeom>
          <a:solidFill>
            <a:srgbClr val="00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65960" y="1655064"/>
            <a:ext cx="0" cy="45720"/>
          </a:xfrm>
          <a:prstGeom prst="line">
            <a:avLst/>
          </a:prstGeom>
          <a:ln w="19050">
            <a:solidFill>
              <a:srgbClr val="A8F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37160" y="1746504"/>
            <a:ext cx="3657600" cy="777240"/>
          </a:xfrm>
          <a:prstGeom prst="roundRect">
            <a:avLst/>
          </a:prstGeom>
          <a:solidFill>
            <a:srgbClr val="00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A8FFC0"/>
                </a:solidFill>
              </a:rPr>
              <a:t>Fabric SQL Endpoint
Exposes Delta tables as
SQL views (no import)</a:t>
            </a:r>
          </a:p>
        </p:txBody>
      </p:sp>
      <p:sp>
        <p:nvSpPr>
          <p:cNvPr id="9" name="Oval 8"/>
          <p:cNvSpPr/>
          <p:nvPr/>
        </p:nvSpPr>
        <p:spPr>
          <a:xfrm>
            <a:off x="137160" y="1746504"/>
            <a:ext cx="347472" cy="347472"/>
          </a:xfrm>
          <a:prstGeom prst="ellipse">
            <a:avLst/>
          </a:prstGeom>
          <a:solidFill>
            <a:srgbClr val="00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65960" y="2523744"/>
            <a:ext cx="0" cy="45720"/>
          </a:xfrm>
          <a:prstGeom prst="line">
            <a:avLst/>
          </a:prstGeom>
          <a:ln w="19050">
            <a:solidFill>
              <a:srgbClr val="A8F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37160" y="2615184"/>
            <a:ext cx="3657600" cy="777240"/>
          </a:xfrm>
          <a:prstGeom prst="roundRect">
            <a:avLst/>
          </a:prstGeom>
          <a:solidFill>
            <a:srgbClr val="00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A8FFC0"/>
                </a:solidFill>
              </a:rPr>
              <a:t>Power BI Semantic Model
Direct Lake connection
(replaces AAS SSAS tabular)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" y="2615184"/>
            <a:ext cx="347472" cy="347472"/>
          </a:xfrm>
          <a:prstGeom prst="ellipse">
            <a:avLst/>
          </a:prstGeom>
          <a:solidFill>
            <a:srgbClr val="00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65960" y="3392424"/>
            <a:ext cx="0" cy="45720"/>
          </a:xfrm>
          <a:prstGeom prst="line">
            <a:avLst/>
          </a:prstGeom>
          <a:ln w="19050">
            <a:solidFill>
              <a:srgbClr val="A8F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37160" y="3483863"/>
            <a:ext cx="3657600" cy="777240"/>
          </a:xfrm>
          <a:prstGeom prst="roundRect">
            <a:avLst/>
          </a:prstGeom>
          <a:solidFill>
            <a:srgbClr val="005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A8FFC0"/>
                </a:solidFill>
              </a:rPr>
              <a:t>Power BI Report Pages
KPI Dashboard / Trends /
ML Insights / Sync Status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" y="3483863"/>
            <a:ext cx="347472" cy="347472"/>
          </a:xfrm>
          <a:prstGeom prst="ellipse">
            <a:avLst/>
          </a:prstGeom>
          <a:solidFill>
            <a:srgbClr val="00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65960" y="4261103"/>
            <a:ext cx="0" cy="45721"/>
          </a:xfrm>
          <a:prstGeom prst="line">
            <a:avLst/>
          </a:prstGeom>
          <a:ln w="19050">
            <a:solidFill>
              <a:srgbClr val="A8F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37160" y="4352544"/>
            <a:ext cx="3657600" cy="777240"/>
          </a:xfrm>
          <a:prstGeom prst="roundRect">
            <a:avLst/>
          </a:prstGeom>
          <a:solidFill>
            <a:srgbClr val="004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88F8B0"/>
                </a:solidFill>
              </a:rPr>
              <a:t>Embedded: Teams +
SharePoint
No extra Pro licence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" y="4352544"/>
            <a:ext cx="347472" cy="347472"/>
          </a:xfrm>
          <a:prstGeom prst="ellipse">
            <a:avLst/>
          </a:prstGeom>
          <a:solidFill>
            <a:srgbClr val="00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" y="5212080"/>
            <a:ext cx="3657600" cy="822960"/>
          </a:xfrm>
          <a:prstGeom prst="roundRect">
            <a:avLst/>
          </a:prstGeom>
          <a:solidFill>
            <a:srgbClr val="1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A8FFC0"/>
                </a:solidFill>
              </a:rPr>
              <a:t>Row-Level Security
Semantic Model RLS by country/org
Employees see own data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56692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488"/>
                </a:solidFill>
              </a:rPr>
              <a:t>DYNAMICS 365 SEEDING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877824"/>
            <a:ext cx="3749039" cy="658368"/>
          </a:xfrm>
          <a:prstGeom prst="roundRect">
            <a:avLst/>
          </a:prstGeom>
          <a:solidFill>
            <a:srgbClr val="44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D0A8FF"/>
                </a:solidFill>
              </a:rPr>
              <a:t>Gold Layer
gold.kpi_summary updated
(new rows / changed rows)</a:t>
            </a:r>
          </a:p>
        </p:txBody>
      </p:sp>
      <p:sp>
        <p:nvSpPr>
          <p:cNvPr id="22" name="Oval 21"/>
          <p:cNvSpPr/>
          <p:nvPr/>
        </p:nvSpPr>
        <p:spPr>
          <a:xfrm>
            <a:off x="4160520" y="877824"/>
            <a:ext cx="347472" cy="347472"/>
          </a:xfrm>
          <a:prstGeom prst="ellipse">
            <a:avLst/>
          </a:prstGeom>
          <a:solidFill>
            <a:srgbClr val="7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5040" y="1536192"/>
            <a:ext cx="0" cy="45720"/>
          </a:xfrm>
          <a:prstGeom prst="line">
            <a:avLst/>
          </a:prstGeom>
          <a:ln w="15240">
            <a:solidFill>
              <a:srgbClr val="FFD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160520" y="1591056"/>
            <a:ext cx="3749039" cy="658368"/>
          </a:xfrm>
          <a:prstGeom prst="roundRect">
            <a:avLst/>
          </a:prstGeom>
          <a:solidFill>
            <a:srgbClr val="7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D488"/>
                </a:solidFill>
              </a:rPr>
              <a:t>Data Activator Trigger
dynamics_seed_trigger fires
(new rows in gold)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1591056"/>
            <a:ext cx="347472" cy="347472"/>
          </a:xfrm>
          <a:prstGeom prst="ellipse">
            <a:avLst/>
          </a:prstGeom>
          <a:solidFill>
            <a:srgbClr val="7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35040" y="2249424"/>
            <a:ext cx="0" cy="45720"/>
          </a:xfrm>
          <a:prstGeom prst="line">
            <a:avLst/>
          </a:prstGeom>
          <a:ln w="15240">
            <a:solidFill>
              <a:srgbClr val="FFD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160520" y="2304288"/>
            <a:ext cx="3749039" cy="658368"/>
          </a:xfrm>
          <a:prstGeom prst="roundRect">
            <a:avLst/>
          </a:prstGeom>
          <a:solidFill>
            <a:srgbClr val="5C3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D488"/>
                </a:solidFill>
              </a:rPr>
              <a:t>Azure Logic App
D365_Seeding_Orchestrator
HTTP trigger</a:t>
            </a:r>
          </a:p>
        </p:txBody>
      </p:sp>
      <p:sp>
        <p:nvSpPr>
          <p:cNvPr id="28" name="Oval 27"/>
          <p:cNvSpPr/>
          <p:nvPr/>
        </p:nvSpPr>
        <p:spPr>
          <a:xfrm>
            <a:off x="4160520" y="2304288"/>
            <a:ext cx="347472" cy="347472"/>
          </a:xfrm>
          <a:prstGeom prst="ellipse">
            <a:avLst/>
          </a:prstGeom>
          <a:solidFill>
            <a:srgbClr val="7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35040" y="2962656"/>
            <a:ext cx="0" cy="45720"/>
          </a:xfrm>
          <a:prstGeom prst="line">
            <a:avLst/>
          </a:prstGeom>
          <a:ln w="15240">
            <a:solidFill>
              <a:srgbClr val="FFD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160520" y="3017520"/>
            <a:ext cx="3749039" cy="658368"/>
          </a:xfrm>
          <a:prstGeom prst="roundRect">
            <a:avLst/>
          </a:prstGeom>
          <a:solidFill>
            <a:srgbClr val="10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90D8FF"/>
                </a:solidFill>
              </a:rPr>
              <a:t>Fabric SQL Endpoint Query
SELECT * FROM gold.kpi_summary
WHERE is_synced = 0</a:t>
            </a:r>
          </a:p>
        </p:txBody>
      </p:sp>
      <p:sp>
        <p:nvSpPr>
          <p:cNvPr id="31" name="Oval 30"/>
          <p:cNvSpPr/>
          <p:nvPr/>
        </p:nvSpPr>
        <p:spPr>
          <a:xfrm>
            <a:off x="4160520" y="3017520"/>
            <a:ext cx="347472" cy="347472"/>
          </a:xfrm>
          <a:prstGeom prst="ellipse">
            <a:avLst/>
          </a:prstGeom>
          <a:solidFill>
            <a:srgbClr val="7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35040" y="3675887"/>
            <a:ext cx="0" cy="45721"/>
          </a:xfrm>
          <a:prstGeom prst="line">
            <a:avLst/>
          </a:prstGeom>
          <a:ln w="15240">
            <a:solidFill>
              <a:srgbClr val="FFD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160520" y="3730752"/>
            <a:ext cx="3749039" cy="658368"/>
          </a:xfrm>
          <a:prstGeom prst="roundRect">
            <a:avLst/>
          </a:prstGeom>
          <a:solidFill>
            <a:srgbClr val="48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D488"/>
                </a:solidFill>
              </a:rPr>
              <a:t>Map → D365 Entity Fields
Transform column names
format values</a:t>
            </a:r>
          </a:p>
        </p:txBody>
      </p:sp>
      <p:sp>
        <p:nvSpPr>
          <p:cNvPr id="34" name="Oval 33"/>
          <p:cNvSpPr/>
          <p:nvPr/>
        </p:nvSpPr>
        <p:spPr>
          <a:xfrm>
            <a:off x="4160520" y="3730752"/>
            <a:ext cx="347472" cy="347472"/>
          </a:xfrm>
          <a:prstGeom prst="ellipse">
            <a:avLst/>
          </a:prstGeom>
          <a:solidFill>
            <a:srgbClr val="7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35040" y="4389120"/>
            <a:ext cx="0" cy="45720"/>
          </a:xfrm>
          <a:prstGeom prst="line">
            <a:avLst/>
          </a:prstGeom>
          <a:ln w="15240">
            <a:solidFill>
              <a:srgbClr val="FFD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160520" y="4443984"/>
            <a:ext cx="3749039" cy="658368"/>
          </a:xfrm>
          <a:prstGeom prst="roundRect">
            <a:avLst/>
          </a:prstGeom>
          <a:solidFill>
            <a:srgbClr val="38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B4B4"/>
                </a:solidFill>
              </a:rPr>
              <a:t>PATCH D365 Web API
/api/data/v9/[entity]
Write KPIs to D365 record</a:t>
            </a:r>
          </a:p>
        </p:txBody>
      </p:sp>
      <p:sp>
        <p:nvSpPr>
          <p:cNvPr id="37" name="Oval 36"/>
          <p:cNvSpPr/>
          <p:nvPr/>
        </p:nvSpPr>
        <p:spPr>
          <a:xfrm>
            <a:off x="4160520" y="4443984"/>
            <a:ext cx="347472" cy="347472"/>
          </a:xfrm>
          <a:prstGeom prst="ellipse">
            <a:avLst/>
          </a:prstGeom>
          <a:solidFill>
            <a:srgbClr val="7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35040" y="5102352"/>
            <a:ext cx="0" cy="45720"/>
          </a:xfrm>
          <a:prstGeom prst="line">
            <a:avLst/>
          </a:prstGeom>
          <a:ln w="15240">
            <a:solidFill>
              <a:srgbClr val="FFD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160520" y="5157216"/>
            <a:ext cx="3749039" cy="658368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8888A8"/>
                </a:solidFill>
              </a:rPr>
              <a:t>Audit Log
WRITE to silver.d365_sync_audit
timestamp + status</a:t>
            </a:r>
          </a:p>
        </p:txBody>
      </p:sp>
      <p:sp>
        <p:nvSpPr>
          <p:cNvPr id="40" name="Oval 39"/>
          <p:cNvSpPr/>
          <p:nvPr/>
        </p:nvSpPr>
        <p:spPr>
          <a:xfrm>
            <a:off x="4160520" y="5157216"/>
            <a:ext cx="347472" cy="347472"/>
          </a:xfrm>
          <a:prstGeom prst="ellipse">
            <a:avLst/>
          </a:prstGeom>
          <a:solidFill>
            <a:srgbClr val="7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56692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B4B4"/>
                </a:solidFill>
              </a:rPr>
              <a:t>SOURCE WRITE-BACK FLOW (CDC)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75320" y="877824"/>
            <a:ext cx="3749039" cy="658368"/>
          </a:xfrm>
          <a:prstGeom prst="roundRect">
            <a:avLst/>
          </a:prstGeom>
          <a:solidFill>
            <a:srgbClr val="44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D0A8FF"/>
                </a:solidFill>
              </a:rPr>
              <a:t>Gold Layer Change
gold.ml_scores row updated
(CDC enabled)</a:t>
            </a:r>
          </a:p>
        </p:txBody>
      </p:sp>
      <p:sp>
        <p:nvSpPr>
          <p:cNvPr id="43" name="Oval 42"/>
          <p:cNvSpPr/>
          <p:nvPr/>
        </p:nvSpPr>
        <p:spPr>
          <a:xfrm>
            <a:off x="8275320" y="877824"/>
            <a:ext cx="347472" cy="347472"/>
          </a:xfrm>
          <a:prstGeom prst="ellipse">
            <a:avLst/>
          </a:prstGeom>
          <a:solidFill>
            <a:srgbClr val="8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149840" y="1536192"/>
            <a:ext cx="0" cy="45720"/>
          </a:xfrm>
          <a:prstGeom prst="line">
            <a:avLst/>
          </a:prstGeom>
          <a:ln w="15240">
            <a:solidFill>
              <a:srgbClr val="FF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275320" y="1591056"/>
            <a:ext cx="3749039" cy="658368"/>
          </a:xfrm>
          <a:prstGeom prst="roundRect">
            <a:avLst/>
          </a:prstGeom>
          <a:solidFill>
            <a:srgbClr val="8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B4B4"/>
                </a:solidFill>
              </a:rPr>
              <a:t>Fabric Eventstream
Captures CDC event
(change data capture)</a:t>
            </a:r>
          </a:p>
        </p:txBody>
      </p:sp>
      <p:sp>
        <p:nvSpPr>
          <p:cNvPr id="46" name="Oval 45"/>
          <p:cNvSpPr/>
          <p:nvPr/>
        </p:nvSpPr>
        <p:spPr>
          <a:xfrm>
            <a:off x="8275320" y="1591056"/>
            <a:ext cx="347472" cy="347472"/>
          </a:xfrm>
          <a:prstGeom prst="ellipse">
            <a:avLst/>
          </a:prstGeom>
          <a:solidFill>
            <a:srgbClr val="8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149840" y="2249424"/>
            <a:ext cx="0" cy="45720"/>
          </a:xfrm>
          <a:prstGeom prst="line">
            <a:avLst/>
          </a:prstGeom>
          <a:ln w="15240">
            <a:solidFill>
              <a:srgbClr val="FF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275320" y="2304288"/>
            <a:ext cx="3749039" cy="658368"/>
          </a:xfrm>
          <a:prstGeom prst="roundRect">
            <a:avLst/>
          </a:prstGeom>
          <a:solidFill>
            <a:srgbClr val="6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B4B4"/>
                </a:solidFill>
              </a:rPr>
              <a:t>Azure Event Hub
Event routed to
Event Hub namespace</a:t>
            </a:r>
          </a:p>
        </p:txBody>
      </p:sp>
      <p:sp>
        <p:nvSpPr>
          <p:cNvPr id="49" name="Oval 48"/>
          <p:cNvSpPr/>
          <p:nvPr/>
        </p:nvSpPr>
        <p:spPr>
          <a:xfrm>
            <a:off x="8275320" y="2304288"/>
            <a:ext cx="347472" cy="347472"/>
          </a:xfrm>
          <a:prstGeom prst="ellipse">
            <a:avLst/>
          </a:prstGeom>
          <a:solidFill>
            <a:srgbClr val="8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149840" y="2962656"/>
            <a:ext cx="0" cy="45720"/>
          </a:xfrm>
          <a:prstGeom prst="line">
            <a:avLst/>
          </a:prstGeom>
          <a:ln w="15240">
            <a:solidFill>
              <a:srgbClr val="FF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8275320" y="3017520"/>
            <a:ext cx="3749039" cy="658368"/>
          </a:xfrm>
          <a:prstGeom prst="roundRect">
            <a:avLst/>
          </a:prstGeom>
          <a:solidFill>
            <a:srgbClr val="5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B4B4"/>
                </a:solidFill>
              </a:rPr>
              <a:t>Logic App Triggered
Source_System_Writeback
consumes from Event Hub</a:t>
            </a:r>
          </a:p>
        </p:txBody>
      </p:sp>
      <p:sp>
        <p:nvSpPr>
          <p:cNvPr id="52" name="Oval 51"/>
          <p:cNvSpPr/>
          <p:nvPr/>
        </p:nvSpPr>
        <p:spPr>
          <a:xfrm>
            <a:off x="8275320" y="3017520"/>
            <a:ext cx="347472" cy="347472"/>
          </a:xfrm>
          <a:prstGeom prst="ellipse">
            <a:avLst/>
          </a:prstGeom>
          <a:solidFill>
            <a:srgbClr val="8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149840" y="3675887"/>
            <a:ext cx="0" cy="45721"/>
          </a:xfrm>
          <a:prstGeom prst="line">
            <a:avLst/>
          </a:prstGeom>
          <a:ln w="15240">
            <a:solidFill>
              <a:srgbClr val="FF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8275320" y="3730752"/>
            <a:ext cx="3749039" cy="658368"/>
          </a:xfrm>
          <a:prstGeom prst="roundRect">
            <a:avLst/>
          </a:prstGeom>
          <a:solidFill>
            <a:srgbClr val="4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B4B4"/>
                </a:solidFill>
              </a:rPr>
              <a:t>Transform Payload
Map fields → source
API request body</a:t>
            </a:r>
          </a:p>
        </p:txBody>
      </p:sp>
      <p:sp>
        <p:nvSpPr>
          <p:cNvPr id="55" name="Oval 54"/>
          <p:cNvSpPr/>
          <p:nvPr/>
        </p:nvSpPr>
        <p:spPr>
          <a:xfrm>
            <a:off x="8275320" y="3730752"/>
            <a:ext cx="347472" cy="347472"/>
          </a:xfrm>
          <a:prstGeom prst="ellipse">
            <a:avLst/>
          </a:prstGeom>
          <a:solidFill>
            <a:srgbClr val="8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149840" y="4389120"/>
            <a:ext cx="0" cy="45720"/>
          </a:xfrm>
          <a:prstGeom prst="line">
            <a:avLst/>
          </a:prstGeom>
          <a:ln w="15240">
            <a:solidFill>
              <a:srgbClr val="FF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8275320" y="4443984"/>
            <a:ext cx="3749039" cy="658368"/>
          </a:xfrm>
          <a:prstGeom prst="roundRect">
            <a:avLst/>
          </a:prstGeom>
          <a:solidFill>
            <a:srgbClr val="3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9090"/>
                </a:solidFill>
              </a:rPr>
              <a:t>POST to Source API
REST endpoint /
SFTP file drop</a:t>
            </a:r>
          </a:p>
        </p:txBody>
      </p:sp>
      <p:sp>
        <p:nvSpPr>
          <p:cNvPr id="58" name="Oval 57"/>
          <p:cNvSpPr/>
          <p:nvPr/>
        </p:nvSpPr>
        <p:spPr>
          <a:xfrm>
            <a:off x="8275320" y="4443984"/>
            <a:ext cx="347472" cy="347472"/>
          </a:xfrm>
          <a:prstGeom prst="ellipse">
            <a:avLst/>
          </a:prstGeom>
          <a:solidFill>
            <a:srgbClr val="8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0149840" y="5102352"/>
            <a:ext cx="0" cy="45720"/>
          </a:xfrm>
          <a:prstGeom prst="line">
            <a:avLst/>
          </a:prstGeom>
          <a:ln w="15240">
            <a:solidFill>
              <a:srgbClr val="FF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275320" y="5157216"/>
            <a:ext cx="3749039" cy="658368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8888A8"/>
                </a:solidFill>
              </a:rPr>
              <a:t>Audit Log
WRITE to silver.writeback_audit
timestamp + status</a:t>
            </a:r>
          </a:p>
        </p:txBody>
      </p:sp>
      <p:sp>
        <p:nvSpPr>
          <p:cNvPr id="61" name="Oval 60"/>
          <p:cNvSpPr/>
          <p:nvPr/>
        </p:nvSpPr>
        <p:spPr>
          <a:xfrm>
            <a:off x="8275320" y="5157216"/>
            <a:ext cx="347472" cy="347472"/>
          </a:xfrm>
          <a:prstGeom prst="ellipse">
            <a:avLst/>
          </a:prstGeom>
          <a:solidFill>
            <a:srgbClr val="8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7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1969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Flow 5: Migration Roadmap — 7-Phase Transition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566928"/>
            <a:ext cx="1627632" cy="5120640"/>
          </a:xfrm>
          <a:prstGeom prst="roundRect">
            <a:avLst/>
          </a:prstGeom>
          <a:solidFill>
            <a:srgbClr val="4B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658368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B0073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" y="1152144"/>
            <a:ext cx="1517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Data Layer
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1" y="1645920"/>
            <a:ext cx="1481328" cy="694944"/>
          </a:xfrm>
          <a:prstGeom prst="roundRect">
            <a:avLst/>
          </a:prstGeom>
          <a:solidFill>
            <a:srgbClr val="250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D0A8FF"/>
                </a:solidFill>
              </a:rPr>
              <a:t>Create Fabric workspace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1" y="2414016"/>
            <a:ext cx="1481328" cy="694944"/>
          </a:xfrm>
          <a:prstGeom prst="roundRect">
            <a:avLst/>
          </a:prstGeom>
          <a:solidFill>
            <a:srgbClr val="250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D0A8FF"/>
                </a:solidFill>
              </a:rPr>
              <a:t>Set up Lakehouse (OneLake)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1" y="3182112"/>
            <a:ext cx="1481328" cy="694944"/>
          </a:xfrm>
          <a:prstGeom prst="roundRect">
            <a:avLst/>
          </a:prstGeom>
          <a:solidFill>
            <a:srgbClr val="250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D0A8FF"/>
                </a:solidFill>
              </a:rPr>
              <a:t>Migrate SQL DW → Delta format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1" y="3950208"/>
            <a:ext cx="1481328" cy="694944"/>
          </a:xfrm>
          <a:prstGeom prst="roundRect">
            <a:avLst/>
          </a:prstGeom>
          <a:solidFill>
            <a:srgbClr val="250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D0A8FF"/>
                </a:solidFill>
              </a:rPr>
              <a:t>Apply Bronze/Silver/Gold zones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5230368"/>
            <a:ext cx="1133856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4B0073"/>
                </a:solidFill>
              </a:rPr>
              <a:t>3-5 days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64792" y="2212848"/>
            <a:ext cx="201168" cy="0"/>
          </a:xfrm>
          <a:prstGeom prst="line">
            <a:avLst/>
          </a:prstGeom>
          <a:ln w="1905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947672" y="566928"/>
            <a:ext cx="1627632" cy="5120640"/>
          </a:xfrm>
          <a:prstGeom prst="roundRect">
            <a:avLst/>
          </a:prstGeom>
          <a:solidFill>
            <a:srgbClr val="003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42032" y="658368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3887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2536" y="1152144"/>
            <a:ext cx="1517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Ingestion
Pipelines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20824" y="1645920"/>
            <a:ext cx="1481328" cy="694944"/>
          </a:xfrm>
          <a:prstGeom prst="roundRect">
            <a:avLst/>
          </a:prstGeom>
          <a:solidFill>
            <a:srgbClr val="001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90D8FF"/>
                </a:solidFill>
              </a:rPr>
              <a:t>Build 3 Fabric Data Factory pipelines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20824" y="2414016"/>
            <a:ext cx="1481328" cy="694944"/>
          </a:xfrm>
          <a:prstGeom prst="roundRect">
            <a:avLst/>
          </a:prstGeom>
          <a:solidFill>
            <a:srgbClr val="001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90D8FF"/>
                </a:solidFill>
              </a:rPr>
              <a:t>File, REST API, Dynamics 365 OData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20824" y="3182112"/>
            <a:ext cx="1481328" cy="694944"/>
          </a:xfrm>
          <a:prstGeom prst="roundRect">
            <a:avLst/>
          </a:prstGeom>
          <a:solidFill>
            <a:srgbClr val="001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90D8FF"/>
                </a:solidFill>
              </a:rPr>
              <a:t>Set watermark-based incremental load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20824" y="3950208"/>
            <a:ext cx="1481328" cy="694944"/>
          </a:xfrm>
          <a:prstGeom prst="roundRect">
            <a:avLst/>
          </a:prstGeom>
          <a:solidFill>
            <a:srgbClr val="001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90D8FF"/>
                </a:solidFill>
              </a:rPr>
              <a:t>Test Bronze layer loading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5230368"/>
            <a:ext cx="1133856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03887"/>
                </a:solidFill>
              </a:rPr>
              <a:t>3-5 days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75304" y="2212848"/>
            <a:ext cx="201168" cy="0"/>
          </a:xfrm>
          <a:prstGeom prst="line">
            <a:avLst/>
          </a:prstGeom>
          <a:ln w="1905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758183" y="566928"/>
            <a:ext cx="1627632" cy="5120640"/>
          </a:xfrm>
          <a:prstGeom prst="roundRect">
            <a:avLst/>
          </a:prstGeom>
          <a:solidFill>
            <a:srgbClr val="00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52543" y="658368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6262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3047" y="1152144"/>
            <a:ext cx="1517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Analytics
+ Azure ML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31335" y="1645920"/>
            <a:ext cx="1481328" cy="694944"/>
          </a:xfrm>
          <a:prstGeom prst="roundRect">
            <a:avLst/>
          </a:prstGeom>
          <a:solidFill>
            <a:srgbClr val="003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A8ECEC"/>
                </a:solidFill>
              </a:rPr>
              <a:t>Port algorithm → Fabric Notebooks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31335" y="2414016"/>
            <a:ext cx="1481328" cy="694944"/>
          </a:xfrm>
          <a:prstGeom prst="roundRect">
            <a:avLst/>
          </a:prstGeom>
          <a:solidFill>
            <a:srgbClr val="003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A8ECEC"/>
                </a:solidFill>
              </a:rPr>
              <a:t>PySpark cleanse + Gold aggregation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31335" y="3182112"/>
            <a:ext cx="1481328" cy="694944"/>
          </a:xfrm>
          <a:prstGeom prst="roundRect">
            <a:avLst/>
          </a:prstGeom>
          <a:solidFill>
            <a:srgbClr val="003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A8ECEC"/>
                </a:solidFill>
              </a:rPr>
              <a:t>Register MLflow model in Azure ML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31335" y="3950208"/>
            <a:ext cx="1481328" cy="694944"/>
          </a:xfrm>
          <a:prstGeom prst="roundRect">
            <a:avLst/>
          </a:prstGeom>
          <a:solidFill>
            <a:srgbClr val="003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A8ECEC"/>
                </a:solidFill>
              </a:rPr>
              <a:t>Run batch scoring notebook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05071" y="5230368"/>
            <a:ext cx="1133856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06262"/>
                </a:solidFill>
              </a:rPr>
              <a:t>5-7 days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385816" y="2212848"/>
            <a:ext cx="201167" cy="0"/>
          </a:xfrm>
          <a:prstGeom prst="line">
            <a:avLst/>
          </a:prstGeom>
          <a:ln w="1905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568696" y="566928"/>
            <a:ext cx="1627632" cy="5120640"/>
          </a:xfrm>
          <a:prstGeom prst="roundRect">
            <a:avLst/>
          </a:prstGeom>
          <a:solidFill>
            <a:srgbClr val="00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63055" y="658368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6E2E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59" y="1152144"/>
            <a:ext cx="1517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Reporting
(Direct Lake)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41848" y="1645920"/>
            <a:ext cx="1481328" cy="694944"/>
          </a:xfrm>
          <a:prstGeom prst="roundRect">
            <a:avLst/>
          </a:prstGeom>
          <a:solidFill>
            <a:srgbClr val="003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A8FFC0"/>
                </a:solidFill>
              </a:rPr>
              <a:t>Create Power BI Semantic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41848" y="2414016"/>
            <a:ext cx="1481328" cy="694944"/>
          </a:xfrm>
          <a:prstGeom prst="roundRect">
            <a:avLst/>
          </a:prstGeom>
          <a:solidFill>
            <a:srgbClr val="003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A8FFC0"/>
                </a:solidFill>
              </a:rPr>
              <a:t>Switch from Import → Direct Lake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41848" y="3182112"/>
            <a:ext cx="1481328" cy="694944"/>
          </a:xfrm>
          <a:prstGeom prst="roundRect">
            <a:avLst/>
          </a:prstGeom>
          <a:solidFill>
            <a:srgbClr val="003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A8FFC0"/>
                </a:solidFill>
              </a:rPr>
              <a:t>Rebuild PBIX reports on new model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41848" y="3950208"/>
            <a:ext cx="1481328" cy="694944"/>
          </a:xfrm>
          <a:prstGeom prst="roundRect">
            <a:avLst/>
          </a:prstGeom>
          <a:solidFill>
            <a:srgbClr val="003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A8FFC0"/>
                </a:solidFill>
              </a:rPr>
              <a:t>Decommission Azure Analysis Services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15583" y="5230368"/>
            <a:ext cx="1133856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06E2E"/>
                </a:solidFill>
              </a:rPr>
              <a:t>2-3 days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196328" y="2212848"/>
            <a:ext cx="201168" cy="0"/>
          </a:xfrm>
          <a:prstGeom prst="line">
            <a:avLst/>
          </a:prstGeom>
          <a:ln w="1905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379208" y="566928"/>
            <a:ext cx="1627632" cy="5120640"/>
          </a:xfrm>
          <a:prstGeom prst="roundRect">
            <a:avLst/>
          </a:prstGeom>
          <a:solidFill>
            <a:srgbClr val="7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973568" y="658368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7A4800"/>
                </a:solidFill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34072" y="1152144"/>
            <a:ext cx="1517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Orchestration
(Data Activator)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52360" y="1645920"/>
            <a:ext cx="1481328" cy="694944"/>
          </a:xfrm>
          <a:prstGeom prst="roundRect">
            <a:avLst/>
          </a:prstGeom>
          <a:solidFill>
            <a:srgbClr val="3D2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D488"/>
                </a:solidFill>
              </a:rPr>
              <a:t>Configure Reflex rules on Gold data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52360" y="2414016"/>
            <a:ext cx="1481328" cy="694944"/>
          </a:xfrm>
          <a:prstGeom prst="roundRect">
            <a:avLst/>
          </a:prstGeom>
          <a:solidFill>
            <a:srgbClr val="3D2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D488"/>
                </a:solidFill>
              </a:rPr>
              <a:t>Set thresholds for KPI alerts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52360" y="3182112"/>
            <a:ext cx="1481328" cy="694944"/>
          </a:xfrm>
          <a:prstGeom prst="roundRect">
            <a:avLst/>
          </a:prstGeom>
          <a:solidFill>
            <a:srgbClr val="3D2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D488"/>
                </a:solidFill>
              </a:rPr>
              <a:t>Wire Teams + Email notifications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52360" y="3950208"/>
            <a:ext cx="1481328" cy="694944"/>
          </a:xfrm>
          <a:prstGeom prst="roundRect">
            <a:avLst/>
          </a:prstGeom>
          <a:solidFill>
            <a:srgbClr val="3D2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D488"/>
                </a:solidFill>
              </a:rPr>
              <a:t>Retire manual trigger scheduling UI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26096" y="5230368"/>
            <a:ext cx="1133856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7A4800"/>
                </a:solidFill>
              </a:rPr>
              <a:t>1-2 days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006840" y="2212848"/>
            <a:ext cx="201168" cy="0"/>
          </a:xfrm>
          <a:prstGeom prst="line">
            <a:avLst/>
          </a:prstGeom>
          <a:ln w="1905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189720" y="566928"/>
            <a:ext cx="1627632" cy="5120640"/>
          </a:xfrm>
          <a:prstGeom prst="roundRect">
            <a:avLst/>
          </a:prstGeom>
          <a:solidFill>
            <a:srgbClr val="560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784080" y="658368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60756"/>
                </a:solidFill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44584" y="1152144"/>
            <a:ext cx="1517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D365 Seeding
+ Alerts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62872" y="1645920"/>
            <a:ext cx="1481328" cy="694944"/>
          </a:xfrm>
          <a:prstGeom prst="roundRect">
            <a:avLst/>
          </a:prstGeom>
          <a:solidFill>
            <a:srgbClr val="2B0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D0A8FF"/>
                </a:solidFill>
              </a:rPr>
              <a:t>Build Logic App for D365 write-back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62872" y="2414016"/>
            <a:ext cx="1481328" cy="694944"/>
          </a:xfrm>
          <a:prstGeom prst="roundRect">
            <a:avLst/>
          </a:prstGeom>
          <a:solidFill>
            <a:srgbClr val="2B0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D0A8FF"/>
                </a:solidFill>
              </a:rPr>
              <a:t>Wire Data Activator → Logic App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62872" y="3182112"/>
            <a:ext cx="1481328" cy="694944"/>
          </a:xfrm>
          <a:prstGeom prst="roundRect">
            <a:avLst/>
          </a:prstGeom>
          <a:solidFill>
            <a:srgbClr val="2B0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D0A8FF"/>
                </a:solidFill>
              </a:rPr>
              <a:t>Configure Adaptive Card templates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62872" y="3950208"/>
            <a:ext cx="1481328" cy="694944"/>
          </a:xfrm>
          <a:prstGeom prst="roundRect">
            <a:avLst/>
          </a:prstGeom>
          <a:solidFill>
            <a:srgbClr val="2B0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D0A8FF"/>
                </a:solidFill>
              </a:rPr>
              <a:t>Retire manual email alert scripts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36608" y="5230368"/>
            <a:ext cx="1133856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560756"/>
                </a:solidFill>
              </a:rPr>
              <a:t>1 day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817352" y="2212848"/>
            <a:ext cx="201168" cy="0"/>
          </a:xfrm>
          <a:prstGeom prst="line">
            <a:avLst/>
          </a:prstGeom>
          <a:ln w="19050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11000232" y="566928"/>
            <a:ext cx="1627632" cy="5120640"/>
          </a:xfrm>
          <a:prstGeom prst="roundRect">
            <a:avLst/>
          </a:prstGeom>
          <a:solidFill>
            <a:srgbClr val="360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594592" y="658368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360076"/>
                </a:solidFill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55096" y="1152144"/>
            <a:ext cx="1517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Source
Write-back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073384" y="1645920"/>
            <a:ext cx="1481328" cy="694944"/>
          </a:xfrm>
          <a:prstGeom prst="roundRect">
            <a:avLst/>
          </a:prstGeom>
          <a:solidFill>
            <a:srgbClr val="1B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D0A8FF"/>
                </a:solidFill>
              </a:rPr>
              <a:t>Enable Eventstream CDC on Gold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073384" y="2414016"/>
            <a:ext cx="1481328" cy="694944"/>
          </a:xfrm>
          <a:prstGeom prst="roundRect">
            <a:avLst/>
          </a:prstGeom>
          <a:solidFill>
            <a:srgbClr val="1B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D0A8FF"/>
                </a:solidFill>
              </a:rPr>
              <a:t>Configure Azure Event Hub routing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1073384" y="3182112"/>
            <a:ext cx="1481328" cy="694944"/>
          </a:xfrm>
          <a:prstGeom prst="roundRect">
            <a:avLst/>
          </a:prstGeom>
          <a:solidFill>
            <a:srgbClr val="1B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D0A8FF"/>
                </a:solidFill>
              </a:rPr>
              <a:t>Build Logic App Source_Writeback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073384" y="3950208"/>
            <a:ext cx="1481328" cy="694944"/>
          </a:xfrm>
          <a:prstGeom prst="roundRect">
            <a:avLst/>
          </a:prstGeom>
          <a:solidFill>
            <a:srgbClr val="1B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D0A8FF"/>
                </a:solidFill>
              </a:rPr>
              <a:t>Audit log / rollback testing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1247120" y="5230368"/>
            <a:ext cx="1133856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360076"/>
                </a:solidFill>
              </a:rPr>
              <a:t>2-3 days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7160" y="5705856"/>
            <a:ext cx="11914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CD058"/>
                </a:solidFill>
              </a:rPr>
              <a:t>[!] Microsoft Fabric F64 SKU or higher required for production. Confirm capacity before starting Phase 1.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7160" y="5980176"/>
            <a:ext cx="11914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8"/>
                </a:solidFill>
              </a:rPr>
              <a:t>Phases can run in parallel where dependencies allow (e.g. Phase 3 can start while Phase 2 runs).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6E2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64008"/>
            <a:ext cx="11969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Component Decision Guide — Why Each Service Was Chosen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548640"/>
            <a:ext cx="2688336" cy="347472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ORIGINAL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548640"/>
            <a:ext cx="3054096" cy="347472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REPLACED BY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548640"/>
            <a:ext cx="3328416" cy="347472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WHY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72600" y="548640"/>
            <a:ext cx="2798064" cy="347472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ADDED BENEFIT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" y="1216152"/>
            <a:ext cx="2688336" cy="621792"/>
          </a:xfrm>
          <a:prstGeom prst="roundRect">
            <a:avLst/>
          </a:prstGeom>
          <a:solidFill>
            <a:srgbClr val="2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D0A8FF"/>
                </a:solidFill>
              </a:rPr>
              <a:t>Azure SQL Data Warehouse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25496" y="1527048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1216152"/>
            <a:ext cx="3054096" cy="621792"/>
          </a:xfrm>
          <a:prstGeom prst="roundRect">
            <a:avLst/>
          </a:prstGeom>
          <a:solidFill>
            <a:srgbClr val="1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90D8FF"/>
                </a:solidFill>
              </a:rPr>
              <a:t>Fabric Lakehouse (OneLake)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34456" y="1527048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89320" y="1216152"/>
            <a:ext cx="3328416" cy="621792"/>
          </a:xfrm>
          <a:prstGeom prst="roundRect">
            <a:avLst/>
          </a:prstGeom>
          <a:solidFill>
            <a:srgbClr val="1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A8FFC0"/>
                </a:solidFill>
              </a:rPr>
              <a:t>No separate compute cluster; OneLake unified storage; Delta format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17736" y="1527048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72600" y="1216152"/>
            <a:ext cx="2798064" cy="621792"/>
          </a:xfrm>
          <a:prstGeom prst="roundRect">
            <a:avLst/>
          </a:prstGeom>
          <a:solidFill>
            <a:srgbClr val="202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A8FFC0"/>
                </a:solidFill>
              </a:rPr>
              <a:t>Delta time-travel, versioning, ACID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" y="1883664"/>
            <a:ext cx="2688336" cy="621792"/>
          </a:xfrm>
          <a:prstGeom prst="roundRect">
            <a:avLst/>
          </a:prstGeom>
          <a:solidFill>
            <a:srgbClr val="2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D0A8FF"/>
                </a:solidFill>
              </a:rPr>
              <a:t>Azure Analysis Services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25496" y="2194560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1883664"/>
            <a:ext cx="3054096" cy="621792"/>
          </a:xfrm>
          <a:prstGeom prst="roundRect">
            <a:avLst/>
          </a:prstGeom>
          <a:solidFill>
            <a:srgbClr val="1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90D8FF"/>
                </a:solidFill>
              </a:rPr>
              <a:t>Power BI Semantic Model (Direct Lake)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34456" y="2194560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89320" y="1883664"/>
            <a:ext cx="3328416" cy="621792"/>
          </a:xfrm>
          <a:prstGeom prst="roundRect">
            <a:avLst/>
          </a:prstGeom>
          <a:solidFill>
            <a:srgbClr val="1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A8FFC0"/>
                </a:solidFill>
              </a:rPr>
              <a:t>Eliminates AAS cluster cost; no ETL refresh cycle; real-time data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17736" y="2194560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72600" y="1883664"/>
            <a:ext cx="2798064" cy="621792"/>
          </a:xfrm>
          <a:prstGeom prst="roundRect">
            <a:avLst/>
          </a:prstGeom>
          <a:solidFill>
            <a:srgbClr val="202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A8FFC0"/>
                </a:solidFill>
              </a:rPr>
              <a:t>Direct Lake reads Delta without import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" y="2551176"/>
            <a:ext cx="2688336" cy="621792"/>
          </a:xfrm>
          <a:prstGeom prst="roundRect">
            <a:avLst/>
          </a:prstGeom>
          <a:solidFill>
            <a:srgbClr val="2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D0A8FF"/>
                </a:solidFill>
              </a:rPr>
              <a:t>Power BI Import refresh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25496" y="2862072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880360" y="2551176"/>
            <a:ext cx="3054096" cy="621792"/>
          </a:xfrm>
          <a:prstGeom prst="roundRect">
            <a:avLst/>
          </a:prstGeom>
          <a:solidFill>
            <a:srgbClr val="1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90D8FF"/>
                </a:solidFill>
              </a:rPr>
              <a:t>Power BI Direct Lake mode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34456" y="2862072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989320" y="2551176"/>
            <a:ext cx="3328416" cy="621792"/>
          </a:xfrm>
          <a:prstGeom prst="roundRect">
            <a:avLst/>
          </a:prstGeom>
          <a:solidFill>
            <a:srgbClr val="1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A8FFC0"/>
                </a:solidFill>
              </a:rPr>
              <a:t>No scheduled refresh; data always current from OneLake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17736" y="2862072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72600" y="2551176"/>
            <a:ext cx="2798064" cy="621792"/>
          </a:xfrm>
          <a:prstGeom prst="roundRect">
            <a:avLst/>
          </a:prstGeom>
          <a:solidFill>
            <a:srgbClr val="202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A8FFC0"/>
                </a:solidFill>
              </a:rPr>
              <a:t>Near real-time; no stale reports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" y="3218688"/>
            <a:ext cx="2688336" cy="621792"/>
          </a:xfrm>
          <a:prstGeom prst="roundRect">
            <a:avLst/>
          </a:prstGeom>
          <a:solidFill>
            <a:srgbClr val="2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D0A8FF"/>
                </a:solidFill>
              </a:rPr>
              <a:t>Custom black-box algorithm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825496" y="3529584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880360" y="3218688"/>
            <a:ext cx="3054096" cy="621792"/>
          </a:xfrm>
          <a:prstGeom prst="roundRect">
            <a:avLst/>
          </a:prstGeom>
          <a:solidFill>
            <a:srgbClr val="1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90D8FF"/>
                </a:solidFill>
              </a:rPr>
              <a:t>Fabric Notebooks + Azure ML (MLflow)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34456" y="3529584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989320" y="3218688"/>
            <a:ext cx="3328416" cy="621792"/>
          </a:xfrm>
          <a:prstGeom prst="roundRect">
            <a:avLst/>
          </a:prstGeom>
          <a:solidFill>
            <a:srgbClr val="1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A8FFC0"/>
                </a:solidFill>
              </a:rPr>
              <a:t>Version-controlled, reproducible, governed models; auditability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17736" y="3529584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372600" y="3218688"/>
            <a:ext cx="2798064" cy="621792"/>
          </a:xfrm>
          <a:prstGeom prst="roundRect">
            <a:avLst/>
          </a:prstGeom>
          <a:solidFill>
            <a:srgbClr val="202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A8FFC0"/>
                </a:solidFill>
              </a:rPr>
              <a:t>MLflow lineage, A/B testing, rollback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7160" y="3886200"/>
            <a:ext cx="2688336" cy="621792"/>
          </a:xfrm>
          <a:prstGeom prst="roundRect">
            <a:avLst/>
          </a:prstGeom>
          <a:solidFill>
            <a:srgbClr val="2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D0A8FF"/>
                </a:solidFill>
              </a:rPr>
              <a:t>Manual trigger management UI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825496" y="4197096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880360" y="3886200"/>
            <a:ext cx="3054096" cy="621792"/>
          </a:xfrm>
          <a:prstGeom prst="roundRect">
            <a:avLst/>
          </a:prstGeom>
          <a:solidFill>
            <a:srgbClr val="1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90D8FF"/>
                </a:solidFill>
              </a:rPr>
              <a:t>Data Activator (Reflex)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34456" y="4197096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989320" y="3886200"/>
            <a:ext cx="3328416" cy="621792"/>
          </a:xfrm>
          <a:prstGeom prst="roundRect">
            <a:avLst/>
          </a:prstGeom>
          <a:solidFill>
            <a:srgbClr val="1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A8FFC0"/>
                </a:solidFill>
              </a:rPr>
              <a:t>Event-driven — no polling; threshold rules without custom code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317736" y="4197096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372600" y="3886200"/>
            <a:ext cx="2798064" cy="621792"/>
          </a:xfrm>
          <a:prstGeom prst="roundRect">
            <a:avLst/>
          </a:prstGeom>
          <a:solidFill>
            <a:srgbClr val="202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A8FFC0"/>
                </a:solidFill>
              </a:rPr>
              <a:t>Auto-scale, Teams integration built-in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7160" y="4553712"/>
            <a:ext cx="2688336" cy="621792"/>
          </a:xfrm>
          <a:prstGeom prst="roundRect">
            <a:avLst/>
          </a:prstGeom>
          <a:solidFill>
            <a:srgbClr val="2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D0A8FF"/>
                </a:solidFill>
              </a:rPr>
              <a:t>Manual emailed alerts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825496" y="4864607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880360" y="4553712"/>
            <a:ext cx="3054096" cy="621792"/>
          </a:xfrm>
          <a:prstGeom prst="roundRect">
            <a:avLst/>
          </a:prstGeom>
          <a:solidFill>
            <a:srgbClr val="1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90D8FF"/>
                </a:solidFill>
              </a:rPr>
              <a:t>Data Activator → Teams Adaptive Cards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934456" y="4864607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989320" y="4553712"/>
            <a:ext cx="3328416" cy="621792"/>
          </a:xfrm>
          <a:prstGeom prst="roundRect">
            <a:avLst/>
          </a:prstGeom>
          <a:solidFill>
            <a:srgbClr val="1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A8FFC0"/>
                </a:solidFill>
              </a:rPr>
              <a:t>Actionable cards — users can acknowledge in Teams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317736" y="4864607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372600" y="4553712"/>
            <a:ext cx="2798064" cy="621792"/>
          </a:xfrm>
          <a:prstGeom prst="roundRect">
            <a:avLst/>
          </a:prstGeom>
          <a:solidFill>
            <a:srgbClr val="202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A8FFC0"/>
                </a:solidFill>
              </a:rPr>
              <a:t>Audit trail, escalation rules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37160" y="5221223"/>
            <a:ext cx="2688336" cy="621792"/>
          </a:xfrm>
          <a:prstGeom prst="roundRect">
            <a:avLst/>
          </a:prstGeom>
          <a:solidFill>
            <a:srgbClr val="2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D0A8FF"/>
                </a:solidFill>
              </a:rPr>
              <a:t>Custom Dynamics seeding pipeline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825496" y="5532119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2880360" y="5221223"/>
            <a:ext cx="3054096" cy="621792"/>
          </a:xfrm>
          <a:prstGeom prst="roundRect">
            <a:avLst/>
          </a:prstGeom>
          <a:solidFill>
            <a:srgbClr val="1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90D8FF"/>
                </a:solidFill>
              </a:rPr>
              <a:t>Dataverse Link + Logic Apps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934456" y="5532119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5989320" y="5221223"/>
            <a:ext cx="3328416" cy="621792"/>
          </a:xfrm>
          <a:prstGeom prst="roundRect">
            <a:avLst/>
          </a:prstGeom>
          <a:solidFill>
            <a:srgbClr val="1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A8FFC0"/>
                </a:solidFill>
              </a:rPr>
              <a:t>Dataverse Link = zero ETL for reads; Logic Apps = auditable writes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317736" y="5532119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372600" y="5221223"/>
            <a:ext cx="2798064" cy="621792"/>
          </a:xfrm>
          <a:prstGeom prst="roundRect">
            <a:avLst/>
          </a:prstGeom>
          <a:solidFill>
            <a:srgbClr val="202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A8FFC0"/>
                </a:solidFill>
              </a:rPr>
              <a:t>Retry logic, run history, approvals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7160" y="5888736"/>
            <a:ext cx="2688336" cy="621792"/>
          </a:xfrm>
          <a:prstGeom prst="roundRect">
            <a:avLst/>
          </a:prstGeom>
          <a:solidFill>
            <a:srgbClr val="2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D0A8FF"/>
                </a:solidFill>
              </a:rPr>
              <a:t>Manual source write-back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825496" y="6199631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880360" y="5888736"/>
            <a:ext cx="3054096" cy="621792"/>
          </a:xfrm>
          <a:prstGeom prst="roundRect">
            <a:avLst/>
          </a:prstGeom>
          <a:solidFill>
            <a:srgbClr val="1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90D8FF"/>
                </a:solidFill>
              </a:rPr>
              <a:t>Fabric Eventstream + Logic Apps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934456" y="6199631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5989320" y="5888736"/>
            <a:ext cx="3328416" cy="621792"/>
          </a:xfrm>
          <a:prstGeom prst="roundRect">
            <a:avLst/>
          </a:prstGeom>
          <a:solidFill>
            <a:srgbClr val="1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A8FFC0"/>
                </a:solidFill>
              </a:rPr>
              <a:t>CDC events → no polling; event-driven write-back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317736" y="6199631"/>
            <a:ext cx="54864" cy="0"/>
          </a:xfrm>
          <a:prstGeom prst="line">
            <a:avLst/>
          </a:prstGeom>
          <a:ln w="9525">
            <a:solidFill>
              <a:srgbClr val="888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9372600" y="5888736"/>
            <a:ext cx="2798064" cy="621792"/>
          </a:xfrm>
          <a:prstGeom prst="roundRect">
            <a:avLst/>
          </a:prstGeom>
          <a:solidFill>
            <a:srgbClr val="202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A8FFC0"/>
                </a:solidFill>
              </a:rPr>
              <a:t>Audited, loosely coupled, testable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7160" y="6537960"/>
            <a:ext cx="11914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CD058"/>
                </a:solidFill>
              </a:rPr>
              <a:t>* Never rely on AI/LLM for numeric threshold enforcement. Always use Fabric SQL + Logic App condition blocks.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