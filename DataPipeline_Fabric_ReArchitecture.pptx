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194560"/>
          </a:xfrm>
          <a:prstGeom prst="rect">
            <a:avLst/>
          </a:prstGeom>
          <a:solidFill>
            <a:srgbClr val="732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0" y="0"/>
            <a:ext cx="6245352" cy="2194560"/>
          </a:xfrm>
          <a:prstGeom prst="rect">
            <a:avLst/>
          </a:prstGeom>
          <a:solidFill>
            <a:srgbClr val="007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640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Microsoft Fabric + Azure AI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6403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Data Analytics Pipeline -- Re-Architecture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63040"/>
            <a:ext cx="11640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3C8DC"/>
                </a:solidFill>
              </a:rPr>
              <a:t>Modernising from Azure SQL DW + AAS + Power BI (Import) to a unified Fabric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468880"/>
            <a:ext cx="1389888" cy="402336"/>
          </a:xfrm>
          <a:prstGeom prst="roundRect">
            <a:avLst/>
          </a:prstGeom>
          <a:solidFill>
            <a:srgbClr val="2C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OneLake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47088" y="2468880"/>
            <a:ext cx="1389888" cy="402336"/>
          </a:xfrm>
          <a:prstGeom prst="roundRect">
            <a:avLst/>
          </a:prstGeom>
          <a:solidFill>
            <a:srgbClr val="2C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Fabric Data Factory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8416" y="2468880"/>
            <a:ext cx="1389888" cy="402336"/>
          </a:xfrm>
          <a:prstGeom prst="roundRect">
            <a:avLst/>
          </a:prstGeom>
          <a:solidFill>
            <a:srgbClr val="2C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Fabric Notebooks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9744" y="2468880"/>
            <a:ext cx="1389888" cy="402336"/>
          </a:xfrm>
          <a:prstGeom prst="roundRect">
            <a:avLst/>
          </a:prstGeom>
          <a:solidFill>
            <a:srgbClr val="2C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Azure 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468880"/>
            <a:ext cx="1389888" cy="402336"/>
          </a:xfrm>
          <a:prstGeom prst="roundRect">
            <a:avLst/>
          </a:prstGeom>
          <a:solidFill>
            <a:srgbClr val="2C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Power BI Direct Lake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2468880"/>
            <a:ext cx="1389888" cy="402336"/>
          </a:xfrm>
          <a:prstGeom prst="roundRect">
            <a:avLst/>
          </a:prstGeom>
          <a:solidFill>
            <a:srgbClr val="2C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Data Activator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53728" y="2468880"/>
            <a:ext cx="1389888" cy="402336"/>
          </a:xfrm>
          <a:prstGeom prst="roundRect">
            <a:avLst/>
          </a:prstGeom>
          <a:solidFill>
            <a:srgbClr val="2C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Fabric Eventstream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35056" y="2468880"/>
            <a:ext cx="1389888" cy="402336"/>
          </a:xfrm>
          <a:prstGeom prst="roundRect">
            <a:avLst/>
          </a:prstGeom>
          <a:solidFill>
            <a:srgbClr val="2C2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Azure Logic Apps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53796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787A5"/>
                </a:solidFill>
              </a:rPr>
              <a:t>February 2025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30352"/>
          </a:xfrm>
          <a:prstGeom prst="rect">
            <a:avLst/>
          </a:prstGeom>
          <a:solidFill>
            <a:srgbClr val="732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73152"/>
            <a:ext cx="12006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Current State  to  Proposed: Microsoft Fabric + Azure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621792"/>
            <a:ext cx="5212080" cy="365760"/>
          </a:xfrm>
          <a:prstGeom prst="roundRect">
            <a:avLst/>
          </a:prstGeom>
          <a:solidFill>
            <a:srgbClr val="343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ORIGINAL COMPONENT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621792"/>
            <a:ext cx="5989320" cy="365760"/>
          </a:xfrm>
          <a:prstGeom prst="roundRect">
            <a:avLst/>
          </a:prstGeom>
          <a:solidFill>
            <a:srgbClr val="3434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FABRIC / AZURE AI REPLACEMENT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" y="1024128"/>
            <a:ext cx="5212080" cy="438912"/>
          </a:xfrm>
          <a:prstGeom prst="roundRect">
            <a:avLst/>
          </a:prstGeom>
          <a:solidFill>
            <a:srgbClr val="1E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D0D4E8"/>
                </a:solidFill>
              </a:rPr>
              <a:t>Data Agents Layer (Logs, Files, ERP)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1024128"/>
            <a:ext cx="5989320" cy="438912"/>
          </a:xfrm>
          <a:prstGeom prst="roundRect">
            <a:avLst/>
          </a:prstGeom>
          <a:solidFill>
            <a:srgbClr val="10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91DAFF"/>
                </a:solidFill>
              </a:rPr>
              <a:t>Fabric Data Factory -- Pipelines + Dataflows Gen2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" y="1499616"/>
            <a:ext cx="5212080" cy="438912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D0D4E8"/>
                </a:solidFill>
              </a:rPr>
              <a:t>Azure SQL Data Warehouse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499616"/>
            <a:ext cx="5989320" cy="438912"/>
          </a:xfrm>
          <a:prstGeom prst="roundRect">
            <a:avLst/>
          </a:prstGeom>
          <a:solidFill>
            <a:srgbClr val="16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91DAFF"/>
                </a:solidFill>
              </a:rPr>
              <a:t>Fabric Lakehouse (OneLake) -- Bronze / Silver / Gold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975104"/>
            <a:ext cx="5212080" cy="438912"/>
          </a:xfrm>
          <a:prstGeom prst="roundRect">
            <a:avLst/>
          </a:prstGeom>
          <a:solidFill>
            <a:srgbClr val="1E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D0D4E8"/>
                </a:solidFill>
              </a:rPr>
              <a:t>Analytics Engine + Custom Algorithm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1975104"/>
            <a:ext cx="5989320" cy="438912"/>
          </a:xfrm>
          <a:prstGeom prst="roundRect">
            <a:avLst/>
          </a:prstGeom>
          <a:solidFill>
            <a:srgbClr val="10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91DAFF"/>
                </a:solidFill>
              </a:rPr>
              <a:t>Fabric Notebooks (PySpark) + Azure Machine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2450592"/>
            <a:ext cx="5212080" cy="438912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D0D4E8"/>
                </a:solidFill>
              </a:rPr>
              <a:t>Azure Analysis Services (SSAS Tabular)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2450592"/>
            <a:ext cx="5989320" cy="438912"/>
          </a:xfrm>
          <a:prstGeom prst="roundRect">
            <a:avLst/>
          </a:prstGeom>
          <a:solidFill>
            <a:srgbClr val="16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91DAFF"/>
                </a:solidFill>
              </a:rPr>
              <a:t>Power BI Semantic Model -- Direct Lake mode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" y="2926080"/>
            <a:ext cx="5212080" cy="438912"/>
          </a:xfrm>
          <a:prstGeom prst="roundRect">
            <a:avLst/>
          </a:prstGeom>
          <a:solidFill>
            <a:srgbClr val="1E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D0D4E8"/>
                </a:solidFill>
              </a:rPr>
              <a:t>Trigger Management UI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926080"/>
            <a:ext cx="5989320" cy="438912"/>
          </a:xfrm>
          <a:prstGeom prst="roundRect">
            <a:avLst/>
          </a:prstGeom>
          <a:solidFill>
            <a:srgbClr val="10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91DAFF"/>
                </a:solidFill>
              </a:rPr>
              <a:t>Fabric Data Activator (Reflex) -- event-driven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" y="3401568"/>
            <a:ext cx="5212080" cy="438912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D0D4E8"/>
                </a:solidFill>
              </a:rPr>
              <a:t>Power BI PBIX (Scheduled Refresh)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77840" y="3401568"/>
            <a:ext cx="5989320" cy="438912"/>
          </a:xfrm>
          <a:prstGeom prst="roundRect">
            <a:avLst/>
          </a:prstGeom>
          <a:solidFill>
            <a:srgbClr val="16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91DAFF"/>
                </a:solidFill>
              </a:rPr>
              <a:t>Power BI in Fabric -- Direct Lake, real-time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" y="3877056"/>
            <a:ext cx="5212080" cy="438912"/>
          </a:xfrm>
          <a:prstGeom prst="roundRect">
            <a:avLst/>
          </a:prstGeom>
          <a:solidFill>
            <a:srgbClr val="1E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D0D4E8"/>
                </a:solidFill>
              </a:rPr>
              <a:t>Dynamics 365 Seeding Pipeline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3877056"/>
            <a:ext cx="5989320" cy="438912"/>
          </a:xfrm>
          <a:prstGeom prst="roundRect">
            <a:avLst/>
          </a:prstGeom>
          <a:solidFill>
            <a:srgbClr val="10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91DAFF"/>
                </a:solidFill>
              </a:rPr>
              <a:t>Dataverse Link to Fabric + Azure Logic Apps write-back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" y="4352544"/>
            <a:ext cx="5212080" cy="438912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D0D4E8"/>
                </a:solidFill>
              </a:rPr>
              <a:t>Manual Emailed Alerts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4352544"/>
            <a:ext cx="5989320" cy="438912"/>
          </a:xfrm>
          <a:prstGeom prst="roundRect">
            <a:avLst/>
          </a:prstGeom>
          <a:solidFill>
            <a:srgbClr val="16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91DAFF"/>
                </a:solidFill>
              </a:rPr>
              <a:t>Data Activator -- Teams Adaptive Cards + Email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7160" y="4828031"/>
            <a:ext cx="5212080" cy="438912"/>
          </a:xfrm>
          <a:prstGeom prst="roundRect">
            <a:avLst/>
          </a:prstGeom>
          <a:solidFill>
            <a:srgbClr val="1E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D0D4E8"/>
                </a:solidFill>
              </a:rPr>
              <a:t>Source System Write-back (Manual)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4828031"/>
            <a:ext cx="5989320" cy="438912"/>
          </a:xfrm>
          <a:prstGeom prst="roundRect">
            <a:avLst/>
          </a:prstGeom>
          <a:solidFill>
            <a:srgbClr val="10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91DAFF"/>
                </a:solidFill>
              </a:rPr>
              <a:t>Fabric Eventstream + Azure Logic Apps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30352"/>
          </a:xfrm>
          <a:prstGeom prst="rect">
            <a:avLst/>
          </a:prstGeom>
          <a:solidFill>
            <a:srgbClr val="732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73152"/>
            <a:ext cx="12006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Architecture Overview -- Microsoft Fabric 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21792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8787A5"/>
                </a:solidFill>
              </a:rPr>
              <a:t>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280160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8787A5"/>
                </a:solidFill>
              </a:rPr>
              <a:t>INGEST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029968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8787A5"/>
                </a:solidFill>
              </a:rPr>
              <a:t>STORE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090672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8787A5"/>
                </a:solidFill>
              </a:rPr>
              <a:t>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023360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8787A5"/>
                </a:solidFill>
              </a:rPr>
              <a:t>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864608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8787A5"/>
                </a:solidFill>
              </a:rPr>
              <a:t>NOTIFY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621792"/>
            <a:ext cx="1828800" cy="658368"/>
          </a:xfrm>
          <a:prstGeom prst="roundRect">
            <a:avLst/>
          </a:prstGeom>
          <a:solidFill>
            <a:srgbClr val="30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C6CAE4"/>
                </a:solidFill>
              </a:rPr>
              <a:t>Source Systems
(ERP, Files, APIs)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621792"/>
            <a:ext cx="1828800" cy="658368"/>
          </a:xfrm>
          <a:prstGeom prst="roundRect">
            <a:avLst/>
          </a:prstGeom>
          <a:solidFill>
            <a:srgbClr val="303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C6CAE4"/>
                </a:solidFill>
              </a:rPr>
              <a:t>Dynamics 365
(Client Side)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37360" y="914400"/>
            <a:ext cx="822960" cy="0"/>
          </a:xfrm>
          <a:prstGeom prst="line">
            <a:avLst/>
          </a:prstGeom>
          <a:ln w="19050">
            <a:solidFill>
              <a:srgbClr val="4E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645920" y="1280160"/>
            <a:ext cx="2560320" cy="109728"/>
          </a:xfrm>
          <a:prstGeom prst="line">
            <a:avLst/>
          </a:prstGeom>
          <a:ln w="19050">
            <a:solidFill>
              <a:srgbClr val="4E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657600" y="1280160"/>
            <a:ext cx="548640" cy="109728"/>
          </a:xfrm>
          <a:prstGeom prst="line">
            <a:avLst/>
          </a:prstGeom>
          <a:ln w="19050">
            <a:solidFill>
              <a:srgbClr val="4E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114800" y="1280160"/>
            <a:ext cx="7589520" cy="713232"/>
          </a:xfrm>
          <a:prstGeom prst="roundRect">
            <a:avLst/>
          </a:prstGeom>
          <a:solidFill>
            <a:srgbClr val="0048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FFFFFF"/>
                </a:solidFill>
              </a:rPr>
              <a:t>Fabric Data Factory
Pipelines + Dataflows Gen2  (Files, REST APIs, Dynamics 365 OData)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63840" y="1993392"/>
            <a:ext cx="0" cy="36576"/>
          </a:xfrm>
          <a:prstGeom prst="line">
            <a:avLst/>
          </a:prstGeom>
          <a:ln w="19050">
            <a:solidFill>
              <a:srgbClr val="5F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1520" y="2029968"/>
            <a:ext cx="11018520" cy="987552"/>
          </a:xfrm>
          <a:prstGeom prst="roundRect">
            <a:avLst/>
          </a:prstGeom>
          <a:solidFill>
            <a:srgbClr val="3E0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0482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D0ACFF"/>
                </a:solidFill>
              </a:rPr>
              <a:t>Microsoft Fabric -- OneLake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2231136"/>
            <a:ext cx="2212848" cy="713232"/>
          </a:xfrm>
          <a:prstGeom prst="roundRect">
            <a:avLst/>
          </a:prstGeom>
          <a:solidFill>
            <a:srgbClr val="2A0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D4C0FC"/>
                </a:solidFill>
              </a:rPr>
              <a:t>Bronze
Raw Delta tables
(as-is from source)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82112" y="2231136"/>
            <a:ext cx="2212848" cy="713232"/>
          </a:xfrm>
          <a:prstGeom prst="roundRect">
            <a:avLst/>
          </a:prstGeom>
          <a:solidFill>
            <a:srgbClr val="480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E8D4FC"/>
                </a:solidFill>
              </a:rPr>
              <a:t>Silver
Cleansed + Conformed
Delta tables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59552" y="2231136"/>
            <a:ext cx="2212848" cy="713232"/>
          </a:xfrm>
          <a:prstGeom prst="roundRect">
            <a:avLst/>
          </a:prstGeom>
          <a:solidFill>
            <a:srgbClr val="6C24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Gold
Aggregated KPIs
+ ML Scores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17152" y="2231136"/>
            <a:ext cx="2414016" cy="713232"/>
          </a:xfrm>
          <a:prstGeom prst="roundRect">
            <a:avLst/>
          </a:prstGeom>
          <a:solidFill>
            <a:srgbClr val="34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C0C0E8"/>
                </a:solidFill>
              </a:rPr>
              <a:t>Fabric SQL
Endpoint
(read access)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587752"/>
            <a:ext cx="146304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0" y="2587752"/>
            <a:ext cx="146304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772400" y="2587752"/>
            <a:ext cx="1426464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1520" y="3090672"/>
            <a:ext cx="2816352" cy="804672"/>
          </a:xfrm>
          <a:prstGeom prst="roundRect">
            <a:avLst/>
          </a:prstGeom>
          <a:solidFill>
            <a:srgbClr val="00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ACEBEB"/>
                </a:solidFill>
              </a:rPr>
              <a:t>Fabric Notebooks
(PySpark Analytics)
Custom Algorithm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139696" y="3017520"/>
            <a:ext cx="0" cy="73152"/>
          </a:xfrm>
          <a:prstGeom prst="line">
            <a:avLst/>
          </a:prstGeom>
          <a:ln w="19050">
            <a:solidFill>
              <a:srgbClr val="B4B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200400" y="3090672"/>
            <a:ext cx="2816352" cy="804672"/>
          </a:xfrm>
          <a:prstGeom prst="roundRect">
            <a:avLst/>
          </a:prstGeom>
          <a:solidFill>
            <a:srgbClr val="004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91DAFF"/>
                </a:solidFill>
              </a:rPr>
              <a:t>Azure Machine Learning
(MLflow Models)
Scoring + Versioning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08576" y="3017520"/>
            <a:ext cx="0" cy="73152"/>
          </a:xfrm>
          <a:prstGeom prst="line">
            <a:avLst/>
          </a:prstGeom>
          <a:ln w="19050">
            <a:solidFill>
              <a:srgbClr val="B4B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17920" y="3090672"/>
            <a:ext cx="2816352" cy="804672"/>
          </a:xfrm>
          <a:prstGeom prst="roundRect">
            <a:avLst/>
          </a:prstGeom>
          <a:solidFill>
            <a:srgbClr val="2E2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CACAFC"/>
                </a:solidFill>
              </a:rPr>
              <a:t>Data Activator (Reflex)
Event-driven Triggers
+ Threshold Rules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26096" y="3017520"/>
            <a:ext cx="0" cy="73152"/>
          </a:xfrm>
          <a:prstGeom prst="line">
            <a:avLst/>
          </a:prstGeom>
          <a:ln w="19050">
            <a:solidFill>
              <a:srgbClr val="B4B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1520" y="4023360"/>
            <a:ext cx="2304288" cy="731520"/>
          </a:xfrm>
          <a:prstGeom prst="roundRect">
            <a:avLst/>
          </a:prstGeom>
          <a:solidFill>
            <a:srgbClr val="006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ACFCC0"/>
                </a:solidFill>
              </a:rPr>
              <a:t>Power BI
Direct Lake
(Real-time)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82112" y="4023360"/>
            <a:ext cx="2304288" cy="731520"/>
          </a:xfrm>
          <a:prstGeom prst="roundRect">
            <a:avLst/>
          </a:prstGeom>
          <a:solidFill>
            <a:srgbClr val="623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FCD48E"/>
                </a:solidFill>
              </a:rPr>
              <a:t>Dynamics 365
Data Seeding
(Logic Apps)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89904" y="4023360"/>
            <a:ext cx="2304288" cy="731520"/>
          </a:xfrm>
          <a:prstGeom prst="roundRect">
            <a:avLst/>
          </a:prstGeom>
          <a:solidFill>
            <a:srgbClr val="480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E8ACFC"/>
                </a:solidFill>
              </a:rPr>
              <a:t>Fabric Eventstream
Source Write-back
(CDC + Logic Apps)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78240" y="4023360"/>
            <a:ext cx="2304288" cy="731520"/>
          </a:xfrm>
          <a:prstGeom prst="roundRect">
            <a:avLst/>
          </a:prstGeom>
          <a:solidFill>
            <a:srgbClr val="103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91DAFF"/>
                </a:solidFill>
              </a:rPr>
              <a:t>Power BI Semantic Model
(replaces AAS tabular)
Direct Lake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1225296" y="3913632"/>
            <a:ext cx="182880" cy="109728"/>
          </a:xfrm>
          <a:prstGeom prst="line">
            <a:avLst/>
          </a:prstGeom>
          <a:ln w="19050">
            <a:solidFill>
              <a:srgbClr val="5CF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3401568" y="3913632"/>
            <a:ext cx="457200" cy="109728"/>
          </a:xfrm>
          <a:prstGeom prst="line">
            <a:avLst/>
          </a:prstGeom>
          <a:ln w="19050">
            <a:solidFill>
              <a:srgbClr val="FCC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7242048" y="3913632"/>
            <a:ext cx="2670048" cy="109728"/>
          </a:xfrm>
          <a:prstGeom prst="line">
            <a:avLst/>
          </a:prstGeom>
          <a:ln w="19050">
            <a:solidFill>
              <a:srgbClr val="D48E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31520" y="4864608"/>
            <a:ext cx="4937760" cy="585216"/>
          </a:xfrm>
          <a:prstGeom prst="roundRect">
            <a:avLst/>
          </a:prstGeom>
          <a:solidFill>
            <a:srgbClr val="24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C0CAFC"/>
                </a:solidFill>
              </a:rPr>
              <a:t>Teams Alerts  (Data Activator &gt;&gt; Teams / Outlook)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0" y="4864608"/>
            <a:ext cx="5669280" cy="585216"/>
          </a:xfrm>
          <a:prstGeom prst="roundRect">
            <a:avLst/>
          </a:prstGeom>
          <a:solidFill>
            <a:srgbClr val="24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0">
                <a:solidFill>
                  <a:srgbClr val="C0CAFC"/>
                </a:solidFill>
              </a:rPr>
              <a:t>Source System Sync-back  (Eventstream &gt;&gt; Logic App &gt;&gt; Source API)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30352"/>
          </a:xfrm>
          <a:prstGeom prst="rect">
            <a:avLst/>
          </a:prstGeom>
          <a:solidFill>
            <a:srgbClr val="623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73152"/>
            <a:ext cx="12006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Migration Roadmap -- 7 Phases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" y="640080"/>
            <a:ext cx="1673352" cy="5468112"/>
          </a:xfrm>
          <a:prstGeom prst="roundRect">
            <a:avLst/>
          </a:prstGeom>
          <a:solidFill>
            <a:srgbClr val="4B0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3796" y="749808"/>
            <a:ext cx="6400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4B0073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316736"/>
            <a:ext cx="1581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Data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1" y="1664208"/>
            <a:ext cx="152704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ACAE1"/>
                </a:solidFill>
              </a:rPr>
              <a:t>Create Fabric workspace + Lakehouse. Migrate SQL DW tables to OneLake Delta format.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7" y="4773168"/>
            <a:ext cx="1133856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4B0073"/>
                </a:solidFill>
              </a:rPr>
              <a:t>3-5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640080"/>
            <a:ext cx="1673352" cy="5468112"/>
          </a:xfrm>
          <a:prstGeom prst="roundRect">
            <a:avLst/>
          </a:prstGeom>
          <a:solidFill>
            <a:srgbClr val="003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36876" y="749808"/>
            <a:ext cx="6400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03887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316736"/>
            <a:ext cx="1581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2" y="1664208"/>
            <a:ext cx="152704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ACAE1"/>
                </a:solidFill>
              </a:rPr>
              <a:t>Replace Data Agents with Fabric Data Factory: File, API, Dynamics 365 OData pipelines.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89988" y="4773168"/>
            <a:ext cx="1133856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003887"/>
                </a:solidFill>
              </a:rPr>
              <a:t>3-5 days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640080"/>
            <a:ext cx="1673352" cy="5468112"/>
          </a:xfrm>
          <a:prstGeom prst="roundRect">
            <a:avLst/>
          </a:prstGeom>
          <a:solidFill>
            <a:srgbClr val="005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19956" y="749808"/>
            <a:ext cx="6400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05656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1316736"/>
            <a:ext cx="1581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Analytics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1664208"/>
            <a:ext cx="152704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ACAE1"/>
                </a:solidFill>
              </a:rPr>
              <a:t>Port custom algorithm to Fabric Notebooks. Integrate Azure ML MLflow models for scoring.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3068" y="4773168"/>
            <a:ext cx="1133856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005656"/>
                </a:solidFill>
              </a:rPr>
              <a:t>5-7 days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640080"/>
            <a:ext cx="1673352" cy="5468112"/>
          </a:xfrm>
          <a:prstGeom prst="roundRect">
            <a:avLst/>
          </a:prstGeom>
          <a:solidFill>
            <a:srgbClr val="004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03036" y="749808"/>
            <a:ext cx="6400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04C24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1316736"/>
            <a:ext cx="1581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Reporting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1664208"/>
            <a:ext cx="152704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ACAE1"/>
                </a:solidFill>
              </a:rPr>
              <a:t>Migrate Power BI reports to Direct Lake mode. Decommission Azure Analysis Services.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56148" y="4773168"/>
            <a:ext cx="1133856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004C24"/>
                </a:solidFill>
              </a:rPr>
              <a:t>2-3 days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640080"/>
            <a:ext cx="1673352" cy="5468112"/>
          </a:xfrm>
          <a:prstGeom prst="roundRect">
            <a:avLst/>
          </a:prstGeom>
          <a:solidFill>
            <a:srgbClr val="422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86116" y="749808"/>
            <a:ext cx="6400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422E00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1316736"/>
            <a:ext cx="1581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Orchestration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2632" y="1664208"/>
            <a:ext cx="152704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ACAE1"/>
                </a:solidFill>
              </a:rPr>
              <a:t>Configure Data Activator Reflex rules. Retire manual trigger management UI.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39228" y="4773168"/>
            <a:ext cx="1133856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422E00"/>
                </a:solidFill>
              </a:rPr>
              <a:t>1-2 days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2560" y="640080"/>
            <a:ext cx="1673352" cy="5468112"/>
          </a:xfrm>
          <a:prstGeom prst="roundRect">
            <a:avLst/>
          </a:prstGeom>
          <a:solidFill>
            <a:srgbClr val="3807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569196" y="749808"/>
            <a:ext cx="6400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380738"/>
                </a:solidFill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1316736"/>
            <a:ext cx="1581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Notifications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25712" y="1664208"/>
            <a:ext cx="152704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ACAE1"/>
                </a:solidFill>
              </a:rPr>
              <a:t>Wire Data Activator to Teams channel + Email. Retire manual email notification jobs.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22308" y="4773168"/>
            <a:ext cx="1133856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380738"/>
                </a:solidFill>
              </a:rPr>
              <a:t>1 day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835640" y="640080"/>
            <a:ext cx="1673352" cy="5468112"/>
          </a:xfrm>
          <a:prstGeom prst="roundRect">
            <a:avLst/>
          </a:prstGeom>
          <a:solidFill>
            <a:srgbClr val="24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1352276" y="749808"/>
            <a:ext cx="6400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4004C"/>
                </a:solidFill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1316736"/>
            <a:ext cx="1581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Write-back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08792" y="1664208"/>
            <a:ext cx="1527048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ACAE1"/>
                </a:solidFill>
              </a:rPr>
              <a:t>Build Eventstream + Logic App for source system sync. Implement writeback audit log.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105388" y="4773168"/>
            <a:ext cx="1133856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24004C"/>
                </a:solidFill>
              </a:rPr>
              <a:t>2-3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" y="6327648"/>
            <a:ext cx="119146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CD45C"/>
                </a:solidFill>
              </a:rPr>
              <a:t>[!] Microsoft Fabric requires F64 SKU or higher for production. Confirm capacity before starting Phase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30352"/>
          </a:xfrm>
          <a:prstGeom prst="rect">
            <a:avLst/>
          </a:prstGeom>
          <a:solidFill>
            <a:srgbClr val="732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" y="73152"/>
            <a:ext cx="12006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Key Best Practices -- Microsoft Fabric + Azure AI Services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" y="658368"/>
            <a:ext cx="2907792" cy="1207008"/>
          </a:xfrm>
          <a:prstGeom prst="roundRect">
            <a:avLst/>
          </a:prstGeom>
          <a:solidFill>
            <a:srgbClr val="141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704088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[ok]  Medallion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932688"/>
            <a:ext cx="27980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0D4EC"/>
                </a:solidFill>
              </a:rPr>
              <a:t>Bronze/Silver/Gold in Lakehouse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" y="1252728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8D4AC"/>
                </a:solidFill>
              </a:rPr>
              <a:t>Quality, lineage, reusability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1499616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CACD4"/>
                </a:solidFill>
              </a:rPr>
              <a:t>Service: Fabric Lakehouse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7248" y="658368"/>
            <a:ext cx="2907792" cy="1207008"/>
          </a:xfrm>
          <a:prstGeom prst="roundRect">
            <a:avLst/>
          </a:prstGeom>
          <a:solidFill>
            <a:srgbClr val="141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82112" y="704088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[ok]  Incremental Pipelines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932688"/>
            <a:ext cx="27980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0D4EC"/>
                </a:solidFill>
              </a:rPr>
              <a:t>Watermark on all pipeline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1252728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8D4AC"/>
                </a:solidFill>
              </a:rPr>
              <a:t>Avoids full reloads -- cost saving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1499616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CACD4"/>
                </a:solidFill>
              </a:rPr>
              <a:t>Service: Fabric Data Factory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658368"/>
            <a:ext cx="2907792" cy="1207008"/>
          </a:xfrm>
          <a:prstGeom prst="roundRect">
            <a:avLst/>
          </a:prstGeom>
          <a:solidFill>
            <a:srgbClr val="141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704088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[ok]  Direct Lake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932688"/>
            <a:ext cx="27980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0D4EC"/>
                </a:solidFill>
              </a:rPr>
              <a:t>Power BI reads OneLake directly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1252728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8D4AC"/>
                </a:solidFill>
              </a:rPr>
              <a:t>No refresh lag, no duplication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1499616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CACD4"/>
                </a:solidFill>
              </a:rPr>
              <a:t>Service: Power BI / Fabric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62288" y="658368"/>
            <a:ext cx="2907792" cy="1207008"/>
          </a:xfrm>
          <a:prstGeom prst="roundRect">
            <a:avLst/>
          </a:prstGeom>
          <a:solidFill>
            <a:srgbClr val="141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7152" y="704088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[ok]  Event-driven Triggers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932688"/>
            <a:ext cx="27980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0D4EC"/>
                </a:solidFill>
              </a:rPr>
              <a:t>Data Activator replaces polling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1252728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8D4AC"/>
                </a:solidFill>
              </a:rPr>
              <a:t>Near real-time, no scheduling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7152" y="1499616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CACD4"/>
                </a:solidFill>
              </a:rPr>
              <a:t>Service: Data Activator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" y="1975104"/>
            <a:ext cx="2907792" cy="1207008"/>
          </a:xfrm>
          <a:prstGeom prst="roundRect">
            <a:avLst/>
          </a:prstGeom>
          <a:solidFill>
            <a:srgbClr val="103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2020824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[ok]  Dataverse Link to Fabric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" y="2249424"/>
            <a:ext cx="27980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0D4EC"/>
                </a:solidFill>
              </a:rPr>
              <a:t>Native D365 -&gt; OneLake, no ETL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" y="2569464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8D4AC"/>
                </a:solidFill>
              </a:rPr>
              <a:t>Zero data movement for D365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" y="2816352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CACD4"/>
                </a:solidFill>
              </a:rPr>
              <a:t>Service: Power Platform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27248" y="1975104"/>
            <a:ext cx="2907792" cy="1207008"/>
          </a:xfrm>
          <a:prstGeom prst="roundRect">
            <a:avLst/>
          </a:prstGeom>
          <a:solidFill>
            <a:srgbClr val="103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82112" y="2020824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[ok]  Logic Apps for Write-back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82112" y="2249424"/>
            <a:ext cx="27980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0D4EC"/>
                </a:solidFill>
              </a:rPr>
              <a:t>Auditable retry-able D365 writes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82112" y="2569464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8D4AC"/>
                </a:solidFill>
              </a:rPr>
              <a:t>Loosely coupled, testable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82112" y="2816352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CACD4"/>
                </a:solidFill>
              </a:rPr>
              <a:t>Service: Azure Logic Apps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975104"/>
            <a:ext cx="2907792" cy="1207008"/>
          </a:xfrm>
          <a:prstGeom prst="roundRect">
            <a:avLst/>
          </a:prstGeom>
          <a:solidFill>
            <a:srgbClr val="103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2" y="2020824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[ok]  Azure ML + MLflow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2249424"/>
            <a:ext cx="27980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0D4EC"/>
                </a:solidFill>
              </a:rPr>
              <a:t>Version all models with MLflow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2569464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8D4AC"/>
                </a:solidFill>
              </a:rPr>
              <a:t>Reproducible, rollback-safe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9632" y="2816352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CACD4"/>
                </a:solidFill>
              </a:rPr>
              <a:t>Service: Azure ML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62288" y="1975104"/>
            <a:ext cx="2907792" cy="1207008"/>
          </a:xfrm>
          <a:prstGeom prst="roundRect">
            <a:avLst/>
          </a:prstGeom>
          <a:solidFill>
            <a:srgbClr val="321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17152" y="2020824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[ok]  Row-level Security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2249424"/>
            <a:ext cx="27980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0D4EC"/>
                </a:solidFill>
              </a:rPr>
              <a:t>RLS on Semantic Model + SQL EP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7152" y="2569464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8D4AC"/>
                </a:solidFill>
              </a:rPr>
              <a:t>Country/org data isolation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2816352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CACD4"/>
                </a:solidFill>
              </a:rPr>
              <a:t>Service: Fabric / Power BI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9728" y="3291840"/>
            <a:ext cx="2907792" cy="1207008"/>
          </a:xfrm>
          <a:prstGeom prst="roundRect">
            <a:avLst/>
          </a:prstGeom>
          <a:solidFill>
            <a:srgbClr val="321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4592" y="3337560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[ok]  Eventstream CDC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4592" y="3566160"/>
            <a:ext cx="27980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0D4EC"/>
                </a:solidFill>
              </a:rPr>
              <a:t>CDC for event-driven write-back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4592" y="3886200"/>
            <a:ext cx="2798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98D4AC"/>
                </a:solidFill>
              </a:rPr>
              <a:t>No polling overhead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4592" y="4133088"/>
            <a:ext cx="2798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CACD4"/>
                </a:solidFill>
              </a:rPr>
              <a:t>Service: Fabric Eventstream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" y="6400800"/>
            <a:ext cx="119694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CD45C"/>
                </a:solidFill>
              </a:rPr>
              <a:t>* Never rely on AI/LLM for numeric rules. Always use Fabric SQL + Logic App conditions for threshold enforcement.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